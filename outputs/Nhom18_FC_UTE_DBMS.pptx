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31bb03db794cde" /><Relationship Type="http://schemas.openxmlformats.org/officeDocument/2006/relationships/extended-properties" Target="/docProps/app.xml" Id="R6cf941b85ce14140" /><Relationship Type="http://schemas.openxmlformats.org/officeDocument/2006/relationships/officeDocument" Target="/ppt/presentation.xml" Id="Rc065f1553a6e42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e7d336700c4a68"/>
  </p:sldMasterIdLst>
  <p:notesMasterIdLst>
    <p:notesMasterId xmlns:r="http://schemas.openxmlformats.org/officeDocument/2006/relationships" r:id="R2246e267033e4ede"/>
  </p:notesMasterIdLst>
  <p:sldIdLst>
    <p:sldId xmlns:r="http://schemas.openxmlformats.org/officeDocument/2006/relationships" id="256" r:id="Ra86f869aa5b24279"/>
    <p:sldId xmlns:r="http://schemas.openxmlformats.org/officeDocument/2006/relationships" id="257" r:id="R07ce51ead4ed406e"/>
    <p:sldId xmlns:r="http://schemas.openxmlformats.org/officeDocument/2006/relationships" id="258" r:id="Ra25d4770b69a4f49"/>
    <p:sldId xmlns:r="http://schemas.openxmlformats.org/officeDocument/2006/relationships" id="259" r:id="R831bc491291c4f05"/>
    <p:sldId xmlns:r="http://schemas.openxmlformats.org/officeDocument/2006/relationships" id="260" r:id="Ra0dacc8a58954376"/>
    <p:sldId xmlns:r="http://schemas.openxmlformats.org/officeDocument/2006/relationships" id="261" r:id="Ra7184075c0064d73"/>
    <p:sldId xmlns:r="http://schemas.openxmlformats.org/officeDocument/2006/relationships" id="262" r:id="R82213fb2615a427a"/>
    <p:sldId xmlns:r="http://schemas.openxmlformats.org/officeDocument/2006/relationships" id="263" r:id="Re8e46dfc18f84b75"/>
    <p:sldId xmlns:r="http://schemas.openxmlformats.org/officeDocument/2006/relationships" id="264" r:id="R00bc8e2cf4444509"/>
    <p:sldId xmlns:r="http://schemas.openxmlformats.org/officeDocument/2006/relationships" id="265" r:id="R7c5439f31bfb4cb3"/>
    <p:sldId xmlns:r="http://schemas.openxmlformats.org/officeDocument/2006/relationships" id="266" r:id="R82ad8e477f484c7d"/>
    <p:sldId xmlns:r="http://schemas.openxmlformats.org/officeDocument/2006/relationships" id="267" r:id="Rf89d896802c24d1a"/>
    <p:sldId xmlns:r="http://schemas.openxmlformats.org/officeDocument/2006/relationships" id="268" r:id="R1791151bda2e4f6b"/>
    <p:sldId xmlns:r="http://schemas.openxmlformats.org/officeDocument/2006/relationships" id="269" r:id="R70c958b2ceee42c9"/>
    <p:sldId xmlns:r="http://schemas.openxmlformats.org/officeDocument/2006/relationships" id="270" r:id="R3df24e31484b4c0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d1239378b24c03" /><Relationship Type="http://schemas.openxmlformats.org/officeDocument/2006/relationships/slideMaster" Target="/ppt/slideMasters/slideMaster1.xml" Id="R46e7d336700c4a68" /><Relationship Type="http://schemas.openxmlformats.org/officeDocument/2006/relationships/notesMaster" Target="/ppt/notesMasters/notesMaster1.xml" Id="R2246e267033e4ede" /><Relationship Type="http://schemas.openxmlformats.org/officeDocument/2006/relationships/presProps" Target="/ppt/presProps.xml" Id="R587762e21ac947ee" /><Relationship Type="http://schemas.openxmlformats.org/officeDocument/2006/relationships/tableStyles" Target="/ppt/tableStyles.xml" Id="R64bb1101edd24283" /><Relationship Type="http://schemas.openxmlformats.org/officeDocument/2006/relationships/slide" Target="/ppt/slides/slide1.xml" Id="Ra86f869aa5b24279" /><Relationship Type="http://schemas.openxmlformats.org/officeDocument/2006/relationships/slide" Target="/ppt/slides/slide2.xml" Id="R07ce51ead4ed406e" /><Relationship Type="http://schemas.openxmlformats.org/officeDocument/2006/relationships/slide" Target="/ppt/slides/slide3.xml" Id="Ra25d4770b69a4f49" /><Relationship Type="http://schemas.openxmlformats.org/officeDocument/2006/relationships/slide" Target="/ppt/slides/slide4.xml" Id="R831bc491291c4f05" /><Relationship Type="http://schemas.openxmlformats.org/officeDocument/2006/relationships/slide" Target="/ppt/slides/slide5.xml" Id="Ra0dacc8a58954376" /><Relationship Type="http://schemas.openxmlformats.org/officeDocument/2006/relationships/slide" Target="/ppt/slides/slide6.xml" Id="Ra7184075c0064d73" /><Relationship Type="http://schemas.openxmlformats.org/officeDocument/2006/relationships/slide" Target="/ppt/slides/slide7.xml" Id="R82213fb2615a427a" /><Relationship Type="http://schemas.openxmlformats.org/officeDocument/2006/relationships/slide" Target="/ppt/slides/slide8.xml" Id="Re8e46dfc18f84b75" /><Relationship Type="http://schemas.openxmlformats.org/officeDocument/2006/relationships/slide" Target="/ppt/slides/slide9.xml" Id="R00bc8e2cf4444509" /><Relationship Type="http://schemas.openxmlformats.org/officeDocument/2006/relationships/slide" Target="/ppt/slides/slide10.xml" Id="R7c5439f31bfb4cb3" /><Relationship Type="http://schemas.openxmlformats.org/officeDocument/2006/relationships/slide" Target="/ppt/slides/slide11.xml" Id="R82ad8e477f484c7d" /><Relationship Type="http://schemas.openxmlformats.org/officeDocument/2006/relationships/slide" Target="/ppt/slides/slide12.xml" Id="Rf89d896802c24d1a" /><Relationship Type="http://schemas.openxmlformats.org/officeDocument/2006/relationships/slide" Target="/ppt/slides/slide13.xml" Id="R1791151bda2e4f6b" /><Relationship Type="http://schemas.openxmlformats.org/officeDocument/2006/relationships/slide" Target="/ppt/slides/slide14.xml" Id="R70c958b2ceee42c9" /><Relationship Type="http://schemas.openxmlformats.org/officeDocument/2006/relationships/slide" Target="/ppt/slides/slide15.xml" Id="R3df24e31484b4c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548122f34141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c82bccbc8643b7" /><Relationship Type="http://schemas.openxmlformats.org/officeDocument/2006/relationships/notesMaster" Target="/ppt/notesMasters/notesMaster1.xml" Id="Rf45794fb7ace41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b81c56cf4041c1" /><Relationship Type="http://schemas.openxmlformats.org/officeDocument/2006/relationships/notesMaster" Target="/ppt/notesMasters/notesMaster1.xml" Id="R18f62e78a0624c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c0d50919ff4b0a" /><Relationship Type="http://schemas.openxmlformats.org/officeDocument/2006/relationships/notesMaster" Target="/ppt/notesMasters/notesMaster1.xml" Id="R741e622737694e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bdfbfcf2154b73" /><Relationship Type="http://schemas.openxmlformats.org/officeDocument/2006/relationships/notesMaster" Target="/ppt/notesMasters/notesMaster1.xml" Id="Rbe6aadabecb143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9decccbb144a0b" /><Relationship Type="http://schemas.openxmlformats.org/officeDocument/2006/relationships/notesMaster" Target="/ppt/notesMasters/notesMaster1.xml" Id="R4665277882fb42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f2c9a7ef3243d6" /><Relationship Type="http://schemas.openxmlformats.org/officeDocument/2006/relationships/notesMaster" Target="/ppt/notesMasters/notesMaster1.xml" Id="R248f9651885549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4ee033e90446d8" /><Relationship Type="http://schemas.openxmlformats.org/officeDocument/2006/relationships/notesMaster" Target="/ppt/notesMasters/notesMaster1.xml" Id="R1e7e45a6ff6042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0e2097f90b423e" /><Relationship Type="http://schemas.openxmlformats.org/officeDocument/2006/relationships/notesMaster" Target="/ppt/notesMasters/notesMaster1.xml" Id="R634c0ae306f54a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af82a9098c4415" /><Relationship Type="http://schemas.openxmlformats.org/officeDocument/2006/relationships/notesMaster" Target="/ppt/notesMasters/notesMaster1.xml" Id="R052761fa50ef44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83b26d733e47b0" /><Relationship Type="http://schemas.openxmlformats.org/officeDocument/2006/relationships/notesMaster" Target="/ppt/notesMasters/notesMaster1.xml" Id="R6eab47d939934a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57a4f165f542fe" /><Relationship Type="http://schemas.openxmlformats.org/officeDocument/2006/relationships/notesMaster" Target="/ppt/notesMasters/notesMaster1.xml" Id="Rb36c0aceba4e42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2e20ccb7d34585" /><Relationship Type="http://schemas.openxmlformats.org/officeDocument/2006/relationships/notesMaster" Target="/ppt/notesMasters/notesMaster1.xml" Id="R85596548d79a45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5ca7fdbbc340af" /><Relationship Type="http://schemas.openxmlformats.org/officeDocument/2006/relationships/notesMaster" Target="/ppt/notesMasters/notesMaster1.xml" Id="Rff730fbad3824b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fd9cec122642e4" /><Relationship Type="http://schemas.openxmlformats.org/officeDocument/2006/relationships/notesMaster" Target="/ppt/notesMasters/notesMaster1.xml" Id="R218cde2cd3674f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d39866d8844616" /><Relationship Type="http://schemas.openxmlformats.org/officeDocument/2006/relationships/notesMaster" Target="/ppt/notesMasters/notesMaster1.xml" Id="R5f140ccb515b4a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đề tài FC-UTE của nhóm 18. GVHD: Cô Phan Thị Thể.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Phân công chi tiết 4 thành viên theo 9 nội dung T-SQL của đề cương DBMS.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Mô hình 3 lớp kết nối SQL Server qua TCP/IP 1433.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 bảng nghiệp vụ đạt chuẩn 3NF, triệt tiêu phụ thuộc hàm bắc cầu.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Phan Tiến Đạt trình bày.</a:t>
            </a:r>
          </a:p>
          <a:p xmlns:a="http://schemas.openxmlformats.org/drawingml/2006/main">
            <a:r>
              <a:t>Nguồn hình: docs/user-manual/images/login.jpg. Ảnh minh họa từ tài liệu, kết nối DB thực tế.</a:t>
            </a:r>
          </a:p>
          <a:p xmlns:a="http://schemas.openxmlformats.org/drawingml/2006/main">
            <a:r>
              <a:t>Demo tài khoản đúng vai trò và trường hợp thiếu quyền.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Võ Minh Quân trình bày.</a:t>
            </a:r>
          </a:p>
          <a:p xmlns:a="http://schemas.openxmlformats.org/drawingml/2006/main">
            <a:r>
              <a:t>Nguồn hình: docs/user-manual/images/customer-booking.jpg. Ảnh minh họa từ tài liệu, kết nối DB thực tế.</a:t>
            </a:r>
          </a:p>
          <a:p xmlns:a="http://schemas.openxmlformats.org/drawingml/2006/main">
            <a:r>
              <a:t>Demo kiểm tra biên giờ và chống đặt trùng lịch.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Võ Minh Quân &amp; Phạm Phúc Hưng trình bày.</a:t>
            </a:r>
          </a:p>
          <a:p xmlns:a="http://schemas.openxmlformats.org/drawingml/2006/main">
            <a:r>
              <a:t>Nguồn hình: docs/user-manual/images/weekly-schedule.jpg. Ảnh minh họa từ tài liệu, kết nối DB thực tế.</a:t>
            </a:r>
          </a:p>
          <a:p xmlns:a="http://schemas.openxmlformats.org/drawingml/2006/main">
            <a:r>
              <a:t>Demo lịch tuần và thao tác nhận/trả sân.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Phạm Phúc Hưng trình bày.</a:t>
            </a:r>
          </a:p>
          <a:p xmlns:a="http://schemas.openxmlformats.org/drawingml/2006/main">
            <a:r>
              <a:t>Nguồn hình: docs/user-manual/images/staff-receive.jpg. Ảnh minh họa từ tài liệu, kết nối DB thực tế.</a:t>
            </a:r>
          </a:p>
          <a:p xmlns:a="http://schemas.openxmlformats.org/drawingml/2006/main">
            <a:r>
              <a:t>Demo thêm lốc nước suối và kiểm tra trigger cập nhật tiền.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Võ Văn Gia Hưng trình bày.</a:t>
            </a:r>
          </a:p>
          <a:p xmlns:a="http://schemas.openxmlformats.org/drawingml/2006/main">
            <a:r>
              <a:t>Nguồn hình: docs/user-manual/images/accountant-ledger.jpg. Ảnh minh họa từ tài liệu, kết nối DB thực tế.</a:t>
            </a:r>
          </a:p>
          <a:p xmlns:a="http://schemas.openxmlformats.org/drawingml/2006/main">
            <a:r>
              <a:t>Demo thanh toán nhiều đợt và kiểm tra mốc hoàn tiền khi hủy.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Phan Tiến Đạt trình bày.</a:t>
            </a:r>
          </a:p>
          <a:p xmlns:a="http://schemas.openxmlformats.org/drawingml/2006/main">
            <a:r>
              <a:t>Nguồn hình: docs/user-manual/images/admin-Man_hinh_chinh_TK&amp;PQ_HT.html.jpg. Ảnh minh họa từ tài liệu, kết nối DB thực tế.</a:t>
            </a:r>
          </a:p>
          <a:p xmlns:a="http://schemas.openxmlformats.org/drawingml/2006/main">
            <a:r>
              <a:t>Demo xem ma trận phân quyền và audit log append-only.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Võ Minh Quân trình bày.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chi tiết 5 SP và 6 UDF theo phân công thành viên.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Trigger bảo vệ snapshot và 9 View phục vụ báo cáo.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Quản lý giao dịch ACID, chống concurrency và phân quyền 4 Role.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Thứ tự demo 4 bước của 4 thành viên trên SQL Server Management Studio.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964255b894d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c89aebd4a4e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b7fcbdc3e4f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de916e49042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04242a304a49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cc56a9299d43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D8ECB2-E040-407C-B31E-1890D03B29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F6F9FDD-9ADD-4AEE-B8BB-986275710C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454103-AC6A-4628-94FC-9447DC8EE6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CB447B-5DFE-4542-B4C0-6A5BD02386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63971F7-4088-45B0-93ED-7C0CE14C71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322264-7BF3-47DD-9B80-E62AB92B46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A4D955-B9BD-4181-81A4-B5F6CF18AE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C7591D-6DB3-424B-9C4C-55D5DC8E81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3B29C0-C682-4384-B8A7-A47DB9A8D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DED174-ACF2-427F-85AE-2FFCB0C27E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723f7a98ae4bae" /><Relationship Type="http://schemas.openxmlformats.org/officeDocument/2006/relationships/slideLayout" Target="/ppt/slideLayouts/slideLayout1.xml" Id="Rc25fa1b68b21407b" /><Relationship Type="http://schemas.openxmlformats.org/officeDocument/2006/relationships/slideLayout" Target="/ppt/slideLayouts/slideLayout2.xml" Id="R30e4eb1231954c8c" /><Relationship Type="http://schemas.openxmlformats.org/officeDocument/2006/relationships/slideLayout" Target="/ppt/slideLayouts/slideLayout3.xml" Id="Rb0930fb2e14d4844" /><Relationship Type="http://schemas.openxmlformats.org/officeDocument/2006/relationships/slideLayout" Target="/ppt/slideLayouts/slideLayout4.xml" Id="R9814a27b66fb464a" /><Relationship Type="http://schemas.openxmlformats.org/officeDocument/2006/relationships/slideLayout" Target="/ppt/slideLayouts/slideLayout5.xml" Id="R639f4747e701487c" /><Relationship Type="http://schemas.openxmlformats.org/officeDocument/2006/relationships/slideLayout" Target="/ppt/slideLayouts/slideLayout6.xml" Id="R39037fc94eac47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5fa1b68b21407b"/>
    <p:sldLayoutId xmlns:r="http://schemas.openxmlformats.org/officeDocument/2006/relationships" id="2147483650" r:id="R30e4eb1231954c8c"/>
    <p:sldLayoutId xmlns:r="http://schemas.openxmlformats.org/officeDocument/2006/relationships" id="2147483651" r:id="Rb0930fb2e14d4844"/>
    <p:sldLayoutId xmlns:r="http://schemas.openxmlformats.org/officeDocument/2006/relationships" id="2147483652" r:id="R9814a27b66fb464a"/>
    <p:sldLayoutId xmlns:r="http://schemas.openxmlformats.org/officeDocument/2006/relationships" id="2147483653" r:id="R639f4747e701487c"/>
    <p:sldLayoutId xmlns:r="http://schemas.openxmlformats.org/officeDocument/2006/relationships" id="2147483654" r:id="R39037fc94eac47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f01d405bed430d" /><Relationship Type="http://schemas.openxmlformats.org/officeDocument/2006/relationships/image" Target="/ppt/media/image.png" Id="R61fadc8840a540b9" /><Relationship Type="http://schemas.openxmlformats.org/officeDocument/2006/relationships/notesSlide" Target="/ppt/notesSlides/notesSlide1.xml" Id="R042c1c2bb23c41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db2d3e44ff47af" /><Relationship Type="http://schemas.openxmlformats.org/officeDocument/2006/relationships/image" Target="/ppt/media/image2.png" Id="R86b96ac497fa4f4e" /><Relationship Type="http://schemas.openxmlformats.org/officeDocument/2006/relationships/notesSlide" Target="/ppt/notesSlides/notesSlide2.xml" Id="Rb9dd259adac14a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1e93d2534467b" /><Relationship Type="http://schemas.openxmlformats.org/officeDocument/2006/relationships/image" Target="/ppt/media/image3.png" Id="R9ccd00fc319c4d77" /><Relationship Type="http://schemas.openxmlformats.org/officeDocument/2006/relationships/notesSlide" Target="/ppt/notesSlides/notesSlide3.xml" Id="Rb17493b5285241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b3f21b1ebb4fb4" /><Relationship Type="http://schemas.openxmlformats.org/officeDocument/2006/relationships/image" Target="/ppt/media/image4.png" Id="Rf2fb0703fc404c39" /><Relationship Type="http://schemas.openxmlformats.org/officeDocument/2006/relationships/notesSlide" Target="/ppt/notesSlides/notesSlide4.xml" Id="Rc6235bf327714a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ad2b8f4f341d6" /><Relationship Type="http://schemas.openxmlformats.org/officeDocument/2006/relationships/image" Target="/ppt/media/image5.png" Id="Rc1c79a87c7a546e2" /><Relationship Type="http://schemas.openxmlformats.org/officeDocument/2006/relationships/image" Target="/ppt/media/image.jpeg" Id="R8ae50938ba3548db" /><Relationship Type="http://schemas.openxmlformats.org/officeDocument/2006/relationships/notesSlide" Target="/ppt/notesSlides/notesSlide5.xml" Id="R683712a870d04f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60bae5d55148d5" /><Relationship Type="http://schemas.openxmlformats.org/officeDocument/2006/relationships/image" Target="/ppt/media/image6.png" Id="Rf7ba3973ebf44881" /><Relationship Type="http://schemas.openxmlformats.org/officeDocument/2006/relationships/image" Target="/ppt/media/image2.jpeg" Id="R80f8aac96aa34603" /><Relationship Type="http://schemas.openxmlformats.org/officeDocument/2006/relationships/notesSlide" Target="/ppt/notesSlides/notesSlide6.xml" Id="R63cf4b40ef8e49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e550ee025346e9" /><Relationship Type="http://schemas.openxmlformats.org/officeDocument/2006/relationships/image" Target="/ppt/media/image7.png" Id="R95ccf72af34c4330" /><Relationship Type="http://schemas.openxmlformats.org/officeDocument/2006/relationships/image" Target="/ppt/media/image3.jpeg" Id="R0ab15e993f9f4a12" /><Relationship Type="http://schemas.openxmlformats.org/officeDocument/2006/relationships/notesSlide" Target="/ppt/notesSlides/notesSlide7.xml" Id="R4ef168db390342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2a4c7223e043d7" /><Relationship Type="http://schemas.openxmlformats.org/officeDocument/2006/relationships/image" Target="/ppt/media/image8.png" Id="Rc9eba7e12134419e" /><Relationship Type="http://schemas.openxmlformats.org/officeDocument/2006/relationships/image" Target="/ppt/media/image4.jpeg" Id="Rbd823d99ceb0406f" /><Relationship Type="http://schemas.openxmlformats.org/officeDocument/2006/relationships/notesSlide" Target="/ppt/notesSlides/notesSlide8.xml" Id="R05413801b9f044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a42b11a634b18" /><Relationship Type="http://schemas.openxmlformats.org/officeDocument/2006/relationships/image" Target="/ppt/media/image9.png" Id="Rbf361c6cfa314963" /><Relationship Type="http://schemas.openxmlformats.org/officeDocument/2006/relationships/image" Target="/ppt/media/image5.jpeg" Id="Rbce5c51a2b4d4d13" /><Relationship Type="http://schemas.openxmlformats.org/officeDocument/2006/relationships/notesSlide" Target="/ppt/notesSlides/notesSlide9.xml" Id="Rdf22c70f6df741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afad73baf41e1" /><Relationship Type="http://schemas.openxmlformats.org/officeDocument/2006/relationships/image" Target="/ppt/media/image10.png" Id="R61c61252e2064afa" /><Relationship Type="http://schemas.openxmlformats.org/officeDocument/2006/relationships/image" Target="/ppt/media/image6.jpeg" Id="R9dc8dcbfc64b4059" /><Relationship Type="http://schemas.openxmlformats.org/officeDocument/2006/relationships/notesSlide" Target="/ppt/notesSlides/notesSlide10.xml" Id="R72c8a3c539e340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5691e0064423f" /><Relationship Type="http://schemas.openxmlformats.org/officeDocument/2006/relationships/image" Target="/ppt/media/image11.png" Id="Rf0a031d1598c4e9e" /><Relationship Type="http://schemas.openxmlformats.org/officeDocument/2006/relationships/notesSlide" Target="/ppt/notesSlides/notesSlide11.xml" Id="R75f3d3dbab194a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708b24a0f4478" /><Relationship Type="http://schemas.openxmlformats.org/officeDocument/2006/relationships/image" Target="/ppt/media/image12.png" Id="R5ad456c1d2d14cc3" /><Relationship Type="http://schemas.openxmlformats.org/officeDocument/2006/relationships/notesSlide" Target="/ppt/notesSlides/notesSlide12.xml" Id="R5bccf8f3ab374a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1f0d64ad94e54" /><Relationship Type="http://schemas.openxmlformats.org/officeDocument/2006/relationships/image" Target="/ppt/media/image13.png" Id="R55bfb4625a2748c6" /><Relationship Type="http://schemas.openxmlformats.org/officeDocument/2006/relationships/notesSlide" Target="/ppt/notesSlides/notesSlide13.xml" Id="R6a9219d5d6f547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b25ec40d6438e" /><Relationship Type="http://schemas.openxmlformats.org/officeDocument/2006/relationships/image" Target="/ppt/media/image14.png" Id="R20cc8d919a5940c6" /><Relationship Type="http://schemas.openxmlformats.org/officeDocument/2006/relationships/notesSlide" Target="/ppt/notesSlides/notesSlide14.xml" Id="Re66e1f2694a549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502c8ad894f27" /><Relationship Type="http://schemas.openxmlformats.org/officeDocument/2006/relationships/image" Target="/ppt/media/image15.png" Id="Ra2389ec97b164d81" /><Relationship Type="http://schemas.openxmlformats.org/officeDocument/2006/relationships/notesSlide" Target="/ppt/notesSlides/notesSlide15.xml" Id="R3c4e7ddf577743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9329E-FA5B-4958-BBDE-4D04553F6B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adc8840a540b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ĐỒ ÁN HỆ QUẢN TRỊ CƠ SỞ DỮ LIỆU">
            <a:extLst xmlns:a="http://schemas.openxmlformats.org/drawingml/2006/main">
              <a:ext uri="{FF2B5EF4-FFF2-40B4-BE49-F238E27FC236}">
                <a16:creationId xmlns:a16="http://schemas.microsoft.com/office/drawing/2014/main" id="{41352277-2B24-4566-8269-B4AFD4E0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ĐỒ ÁN HỆ QUẢN TRỊ CƠ SỞ DỮ LIỆU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F6C73C13-66AD-4247-9C4C-00025B2F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17DBFC2C-40D4-4354-9515-F1CB9549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FC-UTE">
            <a:extLst xmlns:a="http://schemas.openxmlformats.org/drawingml/2006/main">
              <a:ext uri="{FF2B5EF4-FFF2-40B4-BE49-F238E27FC236}">
                <a16:creationId xmlns:a16="http://schemas.microsoft.com/office/drawing/2014/main" id="{A391A85B-A33B-4921-8784-E835FE43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619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FC-UTE</a:t>
            </a:r>
          </a:p>
        </p:txBody>
      </p:sp>
      <p:sp>
        <p:nvSpPr>
          <p:cNvPr id="6" name="HỆ THỐNG QUẢN LÝ&#10;VÀ ĐẶT SÂN BÓNG">
            <a:extLst xmlns:a="http://schemas.openxmlformats.org/drawingml/2006/main">
              <a:ext uri="{FF2B5EF4-FFF2-40B4-BE49-F238E27FC236}">
                <a16:creationId xmlns:a16="http://schemas.microsoft.com/office/drawing/2014/main" id="{F1673EB6-0926-433D-A948-533755EC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1619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HỆ THỐNG QUẢN LÝ</a:t>
            </a:r>
          </a:p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ĐẶT SÂN BÓNG</a:t>
            </a:r>
          </a:p>
        </p:txBody>
      </p:sp>
      <p:sp>
        <p:nvSpPr>
          <p:cNvPr id="7" name="Giảng viên hướng dẫn: Cô Phan Thị Thể   |   Mã học">
            <a:extLst xmlns:a="http://schemas.openxmlformats.org/drawingml/2006/main">
              <a:ext uri="{FF2B5EF4-FFF2-40B4-BE49-F238E27FC236}">
                <a16:creationId xmlns:a16="http://schemas.microsoft.com/office/drawing/2014/main" id="{CD206541-2CBA-4F84-A8C8-BF5CC0F6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239000"/>
            <a:ext cx="1619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A9D4F7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A9D4F7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A9D4F7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A9D4F7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A9D4F7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A9D4F7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A9D4F7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A9D4F7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A9D4F7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A9D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A9D4F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9D4F7"/>
                </a:solidFill>
                <a:latin typeface="Arial"/>
                <a:ea typeface="Arial"/>
                <a:cs typeface="Arial"/>
              </a:rPr>
              <a:t>Giảng viên hướng dẫn: Cô Phan Thị Thể   |   Mã học phần: DBMS330284</a:t>
            </a:r>
          </a:p>
        </p:txBody>
      </p:sp>
      <p:sp>
        <p:nvSpPr>
          <p:cNvPr id="8" name="HTML / CSS / JavaScript     •     Java Spring Boot">
            <a:extLst xmlns:a="http://schemas.openxmlformats.org/drawingml/2006/main">
              <a:ext uri="{FF2B5EF4-FFF2-40B4-BE49-F238E27FC236}">
                <a16:creationId xmlns:a16="http://schemas.microsoft.com/office/drawing/2014/main" id="{C38AE903-7364-4F47-BB26-DDE76891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001000"/>
            <a:ext cx="1619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E0EFF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E0EFF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E0EFF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E0EFF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E0EFF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E0EFF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E0EFF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E0EFF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E0EFF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E0E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E0E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0EFFF"/>
                </a:solidFill>
                <a:latin typeface="Arial"/>
                <a:ea typeface="Arial"/>
                <a:cs typeface="Arial"/>
              </a:rPr>
              <a:t>HTML / CSS / JavaScript     •     Java Spring Boot     •     Microsoft SQL Server</a:t>
            </a:r>
          </a:p>
        </p:txBody>
      </p:sp>
    </p:spTree>
    <p:extLst>
      <p:ext uri="{BB962C8B-B14F-4D97-AF65-F5344CB8AC3E}">
        <p14:creationId xmlns:p14="http://schemas.microsoft.com/office/powerpoint/2010/main" val="13510909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F7C0D-FA23-4BFD-99EE-C42E5C24B1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96ac497fa4f4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HÀNH VIÊN &amp; PHÂN CÔNG T-SQL">
            <a:extLst xmlns:a="http://schemas.openxmlformats.org/drawingml/2006/main">
              <a:ext uri="{FF2B5EF4-FFF2-40B4-BE49-F238E27FC236}">
                <a16:creationId xmlns:a16="http://schemas.microsoft.com/office/drawing/2014/main" id="{2792D6C9-C021-4D74-B8DE-EFA7374F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THÀNH VIÊN &amp; PHÂN CÔNG T-SQL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04E42D92-3E62-4EBC-94DE-8C942387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787E0568-314E-4C47-9015-719E5365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92DAC-ED3A-46E3-8433-821BD19BD308}"/>
              </a:ext>
            </a:extLst>
          </p:cNvPr>
          <p:cNvGraphicFramePr/>
          <p:nvPr/>
        </p:nvGraphicFramePr>
        <p:xfrm>
          <a:off xmlns:a="http://schemas.openxmlformats.org/drawingml/2006/main" x="1028700" y="2428875"/>
          <a:ext xmlns:a="http://schemas.openxmlformats.org/drawingml/2006/main" cx="162306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286000"/>
                <a:gridCol w="4095750"/>
                <a:gridCol w="5848350"/>
              </a:tblGrid>
              <a:tr h="1238250">
                <a:tc>
                  <a:txBody>
                    <a:bodyPr lIns="133350" tIns="133350" rIns="133350" bIns="133350"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Họ và tên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MSSV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Phân hệ nghiệp vụ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Đối tượng T-SQL phụ trách trực tiếp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</a:tr>
              <a:tr h="1238250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Võ Minh Quân (Trưởng nhóm)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24110312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Sân, bảng giá &amp; đặt sân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SP usp_ReportUsage • UDF fn_KhungGioTrong • Index IX_DatSan • Khóa chống đặt trùng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1238250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Võ Văn Gia Hưng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22110155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Hóa đơn, thanh toán, hủy/hoàn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SP usp_ReportFinance, PaymentMethods • UDF fn_TyLeHoan • Trigger TRG_SealedInvoice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1238250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Phạm Phúc Hưng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21110275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Nhận/trả sân &amp; dịch vụ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SP usp_ReportTopServices • Trigger TRG_CapNhatTienDatSan • Trigger TRG_ServicePrice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1238250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Phan Tiến Đạt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24110195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Tài khoản, quyền &amp; nhật ký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SP usp_ReportReconciliation • Trigger TRG_AuditContentImmutable • Ma trận 4 SQL Role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594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7BC3E-672E-4C66-8E1A-87D78F3B0F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d00fc319c4d7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BÀI TOÁN VÀ KIẾN TRÚC KẾT NỐI">
            <a:extLst xmlns:a="http://schemas.openxmlformats.org/drawingml/2006/main">
              <a:ext uri="{FF2B5EF4-FFF2-40B4-BE49-F238E27FC236}">
                <a16:creationId xmlns:a16="http://schemas.microsoft.com/office/drawing/2014/main" id="{6F98DCC9-4C70-4757-99D2-BD114065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BÀI TOÁN VÀ KIẾN TRÚC KẾT NỐI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B00D768E-9A8B-4C5F-A7DF-AC8AF73C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15E23E2D-E236-4FA7-B017-FEA2A14A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Bài toán quản lý sân bóng mini">
            <a:extLst xmlns:a="http://schemas.openxmlformats.org/drawingml/2006/main">
              <a:ext uri="{FF2B5EF4-FFF2-40B4-BE49-F238E27FC236}">
                <a16:creationId xmlns:a16="http://schemas.microsoft.com/office/drawing/2014/main" id="{7CF50107-5BD7-4DD3-A521-2F5B4C2A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Bài toán quản lý sân bóng mini</a:t>
            </a:r>
          </a:p>
        </p:txBody>
      </p:sp>
      <p:sp>
        <p:nvSpPr>
          <p:cNvPr id="6" name="Tra cứu lịch trống, chống đặt trùng giờ, biểu giá ">
            <a:extLst xmlns:a="http://schemas.openxmlformats.org/drawingml/2006/main">
              <a:ext uri="{FF2B5EF4-FFF2-40B4-BE49-F238E27FC236}">
                <a16:creationId xmlns:a16="http://schemas.microsoft.com/office/drawing/2014/main" id="{CC51792E-8C8A-4A63-A5BF-9E65E1B7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1609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Tra cứu lịch trống, chống đặt trùng giờ, biểu giá linh hoạt theo ca, minh bạch dòng tiền thu/hoàn.</a:t>
            </a:r>
          </a:p>
        </p:txBody>
      </p:sp>
      <p:sp>
        <p:nvSpPr>
          <p:cNvPr id="7" name="4 Vai trò người dùng">
            <a:extLst xmlns:a="http://schemas.openxmlformats.org/drawingml/2006/main">
              <a:ext uri="{FF2B5EF4-FFF2-40B4-BE49-F238E27FC236}">
                <a16:creationId xmlns:a16="http://schemas.microsoft.com/office/drawing/2014/main" id="{54404750-C0C1-429A-B970-F628F000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5287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Vai trò người dùng</a:t>
            </a:r>
          </a:p>
        </p:txBody>
      </p:sp>
      <p:sp>
        <p:nvSpPr>
          <p:cNvPr id="8" name="Khách hàng (Customer), Nhân viên sân (Pitch Staff)">
            <a:extLst xmlns:a="http://schemas.openxmlformats.org/drawingml/2006/main">
              <a:ext uri="{FF2B5EF4-FFF2-40B4-BE49-F238E27FC236}">
                <a16:creationId xmlns:a16="http://schemas.microsoft.com/office/drawing/2014/main" id="{862A8AAB-0659-4BCA-9F15-3C2A8748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05325"/>
            <a:ext cx="1609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Khách hàng (Customer), Nhân viên sân (Pitch Staff), Kế toán (Accountant), Quản trị viên (Admin).</a:t>
            </a:r>
          </a:p>
        </p:txBody>
      </p:sp>
      <p:sp>
        <p:nvSpPr>
          <p:cNvPr id="9" name="Kiến trúc ứng dụng Web 3 tầng">
            <a:extLst xmlns:a="http://schemas.openxmlformats.org/drawingml/2006/main">
              <a:ext uri="{FF2B5EF4-FFF2-40B4-BE49-F238E27FC236}">
                <a16:creationId xmlns:a16="http://schemas.microsoft.com/office/drawing/2014/main" id="{95A8FDBA-A6D6-40D2-B0FA-A4A781C9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Kiến trúc ứng dụng Web 3 tầng</a:t>
            </a:r>
          </a:p>
        </p:txBody>
      </p:sp>
      <p:sp>
        <p:nvSpPr>
          <p:cNvPr id="10" name="Client (HTML5/CSS3/Vanilla JS)  →  Spring Boot RES">
            <a:extLst xmlns:a="http://schemas.openxmlformats.org/drawingml/2006/main">
              <a:ext uri="{FF2B5EF4-FFF2-40B4-BE49-F238E27FC236}">
                <a16:creationId xmlns:a16="http://schemas.microsoft.com/office/drawing/2014/main" id="{34850067-F73F-414A-A6C7-1978591A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76950"/>
            <a:ext cx="1609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Client (HTML5/CSS3/Vanilla JS)  →  Spring Boot REST API (JDK 24)  →  SQL Server (TCP/IP 1433).</a:t>
            </a:r>
          </a:p>
        </p:txBody>
      </p:sp>
      <p:sp>
        <p:nvSpPr>
          <p:cNvPr id="11" name="Nguyên tắc toàn vẹn dữ liệu">
            <a:extLst xmlns:a="http://schemas.openxmlformats.org/drawingml/2006/main">
              <a:ext uri="{FF2B5EF4-FFF2-40B4-BE49-F238E27FC236}">
                <a16:creationId xmlns:a16="http://schemas.microsoft.com/office/drawing/2014/main" id="{EB15BFDC-48EE-4861-9267-6C101B4B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961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Nguyên tắc toàn vẹn dữ liệu</a:t>
            </a:r>
          </a:p>
        </p:txBody>
      </p:sp>
      <p:sp>
        <p:nvSpPr>
          <p:cNvPr id="12" name="Xác thực &amp; phân quyền tại Backend, giao dịch quan ">
            <a:extLst xmlns:a="http://schemas.openxmlformats.org/drawingml/2006/main">
              <a:ext uri="{FF2B5EF4-FFF2-40B4-BE49-F238E27FC236}">
                <a16:creationId xmlns:a16="http://schemas.microsoft.com/office/drawing/2014/main" id="{FF342187-9378-46FF-9F43-160F32DC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48575"/>
            <a:ext cx="1609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Xác thực &amp; phân quyền tại Backend, giao dịch quan trọng dùng Transaction, không xóa cứng lịch sử.</a:t>
            </a:r>
          </a:p>
        </p:txBody>
      </p:sp>
    </p:spTree>
    <p:extLst>
      <p:ext uri="{BB962C8B-B14F-4D97-AF65-F5344CB8AC3E}">
        <p14:creationId xmlns:p14="http://schemas.microsoft.com/office/powerpoint/2010/main" val="21407854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E9AA9-F921-4B25-B843-B27F4F7334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b0703fc404c3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MÔ HÌNH DỮ LIỆU CỐT LÕI (3NF)">
            <a:extLst xmlns:a="http://schemas.openxmlformats.org/drawingml/2006/main">
              <a:ext uri="{FF2B5EF4-FFF2-40B4-BE49-F238E27FC236}">
                <a16:creationId xmlns:a16="http://schemas.microsoft.com/office/drawing/2014/main" id="{9B5FCC7D-D4AD-46B2-8B19-C101F858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MÔ HÌNH DỮ LIỆU CỐT LÕI (3NF)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7244BCAF-C028-4590-9795-81CAFA9A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92CB57EC-1468-48A1-8B14-C868E8F0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CF377-A704-41E4-9FD0-A013908BE74E}"/>
              </a:ext>
            </a:extLst>
          </p:cNvPr>
          <p:cNvGraphicFramePr/>
          <p:nvPr/>
        </p:nvGraphicFramePr>
        <p:xfrm>
          <a:off xmlns:a="http://schemas.openxmlformats.org/drawingml/2006/main" x="1028700" y="2428875"/>
          <a:ext xmlns:a="http://schemas.openxmlformats.org/drawingml/2006/main" cx="162306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286250"/>
                <a:gridCol w="8705850"/>
              </a:tblGrid>
              <a:tr h="1031875">
                <a:tc>
                  <a:txBody>
                    <a:bodyPr lIns="133350" tIns="133350" rIns="133350" bIns="133350"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Cụm nghiệp vụ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 bảng chính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Mối quan hệ &amp; Ràng buộc bảo toàn toàn vẹn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</a:tr>
              <a:tr h="1031875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Sân &amp; Biểu giá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San, LoaiSan, KhungGio, GiaTheoCa, BangGia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LoaiSan 1–N San; KhungGio &amp; LoaiSan N–N qua BangGia; bảng giá theo ca tự 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1031875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Lượt đặt sân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DatSan, KhachHang, KhuyenMai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KhachHang 1–N DatSan; San 1–N DatSan; Cột tính toán PERSISTED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1031875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Dịch vụ kèm theo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DichVu, ChiTietDichVu, XacNhanSan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DatSan 1–N ChiTietDichVu; Quy cách Lốc 6 giảm 3%; Trigger cập nhật tổng tiền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1031875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Hóa đơn &amp; Dòng tiền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HoaDon, ThanhToan, HuyDatSan, HoanTien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DatSan 1–0..1 HoaDon (UNIQUE); Thanh toán nhiều lần; Phạt/hoàn mốc 10h/2h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1031875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Quản trị &amp; Phân quyền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VaiTro, ChucNang, PhanQuyen, TaiKhoan, NhatKy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VaiTro 1–N TaiKhoan; Ma trận phân quyền chức năng; Audit log bất biến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891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E17D0-198B-4FED-A599-FEE27439B7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79a87c7a546e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ĐĂNG NHẬP VÀ PHÂN VAI TRÒ">
            <a:extLst xmlns:a="http://schemas.openxmlformats.org/drawingml/2006/main">
              <a:ext uri="{FF2B5EF4-FFF2-40B4-BE49-F238E27FC236}">
                <a16:creationId xmlns:a16="http://schemas.microsoft.com/office/drawing/2014/main" id="{F8191D22-72C9-4E59-BBDC-D4700E44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ĐĂNG NHẬP VÀ PHÂN VAI TRÒ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11AD6841-7663-43EF-9BB2-EB47A5CA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49CD06CB-527B-468D-A3B1-F815093F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6A79F-E89D-4489-8533-76387B6DFB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50938ba3548db"/>
          <a:stretch xmlns:a="http://schemas.openxmlformats.org/drawingml/2006/main"/>
        </p:blipFill>
        <p:spPr>
          <a:xfrm xmlns:a="http://schemas.openxmlformats.org/drawingml/2006/main">
            <a:off x="8214059" y="2190750"/>
            <a:ext cx="8051132" cy="6953250"/>
          </a:xfrm>
          <a:prstGeom xmlns:a="http://schemas.openxmlformats.org/drawingml/2006/main" prst="rect">
            <a:avLst/>
          </a:prstGeom>
        </p:spPr>
      </p:pic>
      <p:sp>
        <p:nvSpPr>
          <p:cNvPr id="6" name="Xác thực bảo mật [Phan Tiến Đạt]">
            <a:extLst xmlns:a="http://schemas.openxmlformats.org/drawingml/2006/main">
              <a:ext uri="{FF2B5EF4-FFF2-40B4-BE49-F238E27FC236}">
                <a16:creationId xmlns:a16="http://schemas.microsoft.com/office/drawing/2014/main" id="{4AC1E481-687C-47E6-9C71-4AC9CB39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Xác thực bảo mật [Phan Tiến Đạt]</a:t>
            </a:r>
          </a:p>
        </p:txBody>
      </p:sp>
      <p:sp>
        <p:nvSpPr>
          <p:cNvPr id="7" name="Đăng nhập bằng username/email/SĐT, mật khẩu hash B">
            <a:extLst xmlns:a="http://schemas.openxmlformats.org/drawingml/2006/main">
              <a:ext uri="{FF2B5EF4-FFF2-40B4-BE49-F238E27FC236}">
                <a16:creationId xmlns:a16="http://schemas.microsoft.com/office/drawing/2014/main" id="{ED1F7C77-0F0E-4C03-A72D-C8EAF21C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Đăng nhập bằng username/email/SĐT, mật khẩu hash BCrypt.</a:t>
            </a:r>
          </a:p>
        </p:txBody>
      </p:sp>
      <p:sp>
        <p:nvSpPr>
          <p:cNvPr id="8" name="Phân luồng 4 vai trò">
            <a:extLst xmlns:a="http://schemas.openxmlformats.org/drawingml/2006/main">
              <a:ext uri="{FF2B5EF4-FFF2-40B4-BE49-F238E27FC236}">
                <a16:creationId xmlns:a16="http://schemas.microsoft.com/office/drawing/2014/main" id="{9E017D6D-EC64-458C-85D8-46073CA0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luồng 4 vai trò</a:t>
            </a:r>
          </a:p>
        </p:txBody>
      </p:sp>
      <p:sp>
        <p:nvSpPr>
          <p:cNvPr id="9" name="Điều hướng giao diện tương ứng theo vai trò được g">
            <a:extLst xmlns:a="http://schemas.openxmlformats.org/drawingml/2006/main">
              <a:ext uri="{FF2B5EF4-FFF2-40B4-BE49-F238E27FC236}">
                <a16:creationId xmlns:a16="http://schemas.microsoft.com/office/drawing/2014/main" id="{5C7F033E-27F1-4E9B-B4FA-C1C2805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Điều hướng giao diện tương ứng theo vai trò được gán trong DB.</a:t>
            </a:r>
          </a:p>
        </p:txBody>
      </p:sp>
      <p:sp>
        <p:nvSpPr>
          <p:cNvPr id="10" name="Kiểm soát quyền tại Backend">
            <a:extLst xmlns:a="http://schemas.openxmlformats.org/drawingml/2006/main">
              <a:ext uri="{FF2B5EF4-FFF2-40B4-BE49-F238E27FC236}">
                <a16:creationId xmlns:a16="http://schemas.microsoft.com/office/drawing/2014/main" id="{B1A39492-0219-44F6-9221-C76B3135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96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soát quyền tại Backend</a:t>
            </a:r>
          </a:p>
        </p:txBody>
      </p:sp>
      <p:sp>
        <p:nvSpPr>
          <p:cNvPr id="11" name="Kiểm tra session, bảo vệ chống giả mạo quyền truy ">
            <a:extLst xmlns:a="http://schemas.openxmlformats.org/drawingml/2006/main">
              <a:ext uri="{FF2B5EF4-FFF2-40B4-BE49-F238E27FC236}">
                <a16:creationId xmlns:a16="http://schemas.microsoft.com/office/drawing/2014/main" id="{C8992FB7-0AA8-452D-B0A2-0C357260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484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Kiểm tra session, bảo vệ chống giả mạo quyền truy cập API.</a:t>
            </a:r>
          </a:p>
        </p:txBody>
      </p:sp>
      <p:sp>
        <p:nvSpPr>
          <p:cNvPr id="12" name="Minh họa ứng dụng kết nối trực tiếp CSDL">
            <a:extLst xmlns:a="http://schemas.openxmlformats.org/drawingml/2006/main">
              <a:ext uri="{FF2B5EF4-FFF2-40B4-BE49-F238E27FC236}">
                <a16:creationId xmlns:a16="http://schemas.microsoft.com/office/drawing/2014/main" id="{EB7D00A7-17CF-4314-A299-CF1D6B12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2487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Minh họa ứng dụng kết nối trực tiếp CSDL</a:t>
            </a:r>
          </a:p>
        </p:txBody>
      </p:sp>
    </p:spTree>
    <p:extLst>
      <p:ext uri="{BB962C8B-B14F-4D97-AF65-F5344CB8AC3E}">
        <p14:creationId xmlns:p14="http://schemas.microsoft.com/office/powerpoint/2010/main" val="19389140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CAD21-634F-4593-AE76-4F4B053D20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a3973ebf44881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KHÁCH HÀNG ĐẶT SÂN">
            <a:extLst xmlns:a="http://schemas.openxmlformats.org/drawingml/2006/main">
              <a:ext uri="{FF2B5EF4-FFF2-40B4-BE49-F238E27FC236}">
                <a16:creationId xmlns:a16="http://schemas.microsoft.com/office/drawing/2014/main" id="{0BD008C3-760B-4007-8459-8E8D6612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KHÁCH HÀNG ĐẶT SÂN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B753B18D-C4B6-45CC-A177-579B588E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43B72935-B29F-4947-9475-2B1CBAA2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E610B-2CF1-4ED5-85F3-0955E91117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8aac96aa34603"/>
          <a:stretch xmlns:a="http://schemas.openxmlformats.org/drawingml/2006/main"/>
        </p:blipFill>
        <p:spPr>
          <a:xfrm xmlns:a="http://schemas.openxmlformats.org/drawingml/2006/main">
            <a:off x="7823589" y="2190750"/>
            <a:ext cx="8832073" cy="6953250"/>
          </a:xfrm>
          <a:prstGeom xmlns:a="http://schemas.openxmlformats.org/drawingml/2006/main" prst="rect">
            <a:avLst/>
          </a:prstGeom>
        </p:spPr>
      </p:pic>
      <p:sp>
        <p:nvSpPr>
          <p:cNvPr id="6" name="Đặt sân linh hoạt [Võ Minh Quân]">
            <a:extLst xmlns:a="http://schemas.openxmlformats.org/drawingml/2006/main">
              <a:ext uri="{FF2B5EF4-FFF2-40B4-BE49-F238E27FC236}">
                <a16:creationId xmlns:a16="http://schemas.microsoft.com/office/drawing/2014/main" id="{94502EA1-BD95-4EB3-B020-790697D6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Đặt sân linh hoạt [Võ Minh Quân]</a:t>
            </a:r>
          </a:p>
        </p:txBody>
      </p:sp>
      <p:sp>
        <p:nvSpPr>
          <p:cNvPr id="7" name="Tra cứu lịch trống, đặt giờ khung hoặc giờ tự do 0">
            <a:extLst xmlns:a="http://schemas.openxmlformats.org/drawingml/2006/main">
              <a:ext uri="{FF2B5EF4-FFF2-40B4-BE49-F238E27FC236}">
                <a16:creationId xmlns:a16="http://schemas.microsoft.com/office/drawing/2014/main" id="{72C24795-47BD-49C7-9D24-CD96889F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Tra cứu lịch trống, đặt giờ khung hoặc giờ tự do 07:00–22:00.</a:t>
            </a:r>
          </a:p>
        </p:txBody>
      </p:sp>
      <p:sp>
        <p:nvSpPr>
          <p:cNvPr id="8" name="Cột tính toán PERSISTED">
            <a:extLst xmlns:a="http://schemas.openxmlformats.org/drawingml/2006/main">
              <a:ext uri="{FF2B5EF4-FFF2-40B4-BE49-F238E27FC236}">
                <a16:creationId xmlns:a16="http://schemas.microsoft.com/office/drawing/2014/main" id="{DD8218E3-4244-4D1D-BDEE-FDDE0FC2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Cột tính toán PERSISTED</a:t>
            </a:r>
          </a:p>
        </p:txBody>
      </p:sp>
      <p:sp>
        <p:nvSpPr>
          <p:cNvPr id="9" name="ThoiLuong, TienSan, TongTien tính tự động theo phú">
            <a:extLst xmlns:a="http://schemas.openxmlformats.org/drawingml/2006/main">
              <a:ext uri="{FF2B5EF4-FFF2-40B4-BE49-F238E27FC236}">
                <a16:creationId xmlns:a16="http://schemas.microsoft.com/office/drawing/2014/main" id="{44436FA3-DD46-45BE-B506-E6B8047C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ThoiLuong, TienSan, TongTien tính tự động theo phút thực tế.</a:t>
            </a:r>
          </a:p>
        </p:txBody>
      </p:sp>
      <p:sp>
        <p:nvSpPr>
          <p:cNvPr id="10" name="Snapshot bảo toàn giá">
            <a:extLst xmlns:a="http://schemas.openxmlformats.org/drawingml/2006/main">
              <a:ext uri="{FF2B5EF4-FFF2-40B4-BE49-F238E27FC236}">
                <a16:creationId xmlns:a16="http://schemas.microsoft.com/office/drawing/2014/main" id="{128374A5-B1AC-4389-B312-9719B94B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96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Snapshot bảo toàn giá</a:t>
            </a:r>
          </a:p>
        </p:txBody>
      </p:sp>
      <p:sp>
        <p:nvSpPr>
          <p:cNvPr id="11" name="Ghi nhận đơn giá tại thời điểm đặt, bảng giá đổi k">
            <a:extLst xmlns:a="http://schemas.openxmlformats.org/drawingml/2006/main">
              <a:ext uri="{FF2B5EF4-FFF2-40B4-BE49-F238E27FC236}">
                <a16:creationId xmlns:a16="http://schemas.microsoft.com/office/drawing/2014/main" id="{B1512E70-92DE-49F9-8955-EFDB09DA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484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Ghi nhận đơn giá tại thời điểm đặt, bảng giá đổi không lệch giao dịch.</a:t>
            </a:r>
          </a:p>
        </p:txBody>
      </p:sp>
      <p:sp>
        <p:nvSpPr>
          <p:cNvPr id="12" name="Minh họa ứng dụng kết nối trực tiếp CSDL">
            <a:extLst xmlns:a="http://schemas.openxmlformats.org/drawingml/2006/main">
              <a:ext uri="{FF2B5EF4-FFF2-40B4-BE49-F238E27FC236}">
                <a16:creationId xmlns:a16="http://schemas.microsoft.com/office/drawing/2014/main" id="{71CE6225-9053-477F-91C1-AFD1ABA9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2487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Minh họa ứng dụng kết nối trực tiếp CSDL</a:t>
            </a:r>
          </a:p>
        </p:txBody>
      </p:sp>
    </p:spTree>
    <p:extLst>
      <p:ext uri="{BB962C8B-B14F-4D97-AF65-F5344CB8AC3E}">
        <p14:creationId xmlns:p14="http://schemas.microsoft.com/office/powerpoint/2010/main" val="21072972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B2E68-C9DE-426C-B93F-55CA89CB54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cf72af34c433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ỊCH VÀ NHẬN TRẢ SÂN">
            <a:extLst xmlns:a="http://schemas.openxmlformats.org/drawingml/2006/main">
              <a:ext uri="{FF2B5EF4-FFF2-40B4-BE49-F238E27FC236}">
                <a16:creationId xmlns:a16="http://schemas.microsoft.com/office/drawing/2014/main" id="{D4032345-63B0-4047-9E9C-D76ED20F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LỊCH VÀ NHẬN TRẢ SÂN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FE252648-B464-4402-A53B-FB2F0F1E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8F8B85A3-B359-4858-A9C0-291AB5F7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A05A5-2902-4FAE-9A33-FF4FD3D43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15e993f9f4a12"/>
          <a:stretch xmlns:a="http://schemas.openxmlformats.org/drawingml/2006/main"/>
        </p:blipFill>
        <p:spPr>
          <a:xfrm xmlns:a="http://schemas.openxmlformats.org/drawingml/2006/main">
            <a:off x="7727738" y="2190750"/>
            <a:ext cx="9023773" cy="6953250"/>
          </a:xfrm>
          <a:prstGeom xmlns:a="http://schemas.openxmlformats.org/drawingml/2006/main" prst="rect">
            <a:avLst/>
          </a:prstGeom>
        </p:spPr>
      </p:pic>
      <p:sp>
        <p:nvSpPr>
          <p:cNvPr id="6" name="Lịch tuần trực quan [Võ Minh Quân]">
            <a:extLst xmlns:a="http://schemas.openxmlformats.org/drawingml/2006/main">
              <a:ext uri="{FF2B5EF4-FFF2-40B4-BE49-F238E27FC236}">
                <a16:creationId xmlns:a16="http://schemas.microsoft.com/office/drawing/2014/main" id="{D877DBC3-0F13-4B1B-8580-06EF8C68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Lịch tuần trực quan [Võ Minh Quân]</a:t>
            </a:r>
          </a:p>
        </p:txBody>
      </p:sp>
      <p:sp>
        <p:nvSpPr>
          <p:cNvPr id="7" name="Lọc theo sân, ngày và trạng thái phiếu đặt (Chờ, X">
            <a:extLst xmlns:a="http://schemas.openxmlformats.org/drawingml/2006/main">
              <a:ext uri="{FF2B5EF4-FFF2-40B4-BE49-F238E27FC236}">
                <a16:creationId xmlns:a16="http://schemas.microsoft.com/office/drawing/2014/main" id="{EFD2C4DD-A25F-4A40-A1CF-8FFE71D9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Lọc theo sân, ngày và trạng thái phiếu đặt (Chờ, Xác nhận, Đã dùng).</a:t>
            </a:r>
          </a:p>
        </p:txBody>
      </p:sp>
      <p:sp>
        <p:nvSpPr>
          <p:cNvPr id="8" name="Vận hành nhận/trả sân [Phạm Phúc Hưng]">
            <a:extLst xmlns:a="http://schemas.openxmlformats.org/drawingml/2006/main">
              <a:ext uri="{FF2B5EF4-FFF2-40B4-BE49-F238E27FC236}">
                <a16:creationId xmlns:a16="http://schemas.microsoft.com/office/drawing/2014/main" id="{BF9FE8A5-79D7-4C93-8121-13020FA3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Vận hành nhận/trả sân [Phạm Phúc Hưng]</a:t>
            </a:r>
          </a:p>
        </p:txBody>
      </p:sp>
      <p:sp>
        <p:nvSpPr>
          <p:cNvPr id="9" name="Bảng XacNhanSan ghi nhận giờ nhận, giờ trả và hiện">
            <a:extLst xmlns:a="http://schemas.openxmlformats.org/drawingml/2006/main">
              <a:ext uri="{FF2B5EF4-FFF2-40B4-BE49-F238E27FC236}">
                <a16:creationId xmlns:a16="http://schemas.microsoft.com/office/drawing/2014/main" id="{A7D061E3-84E1-4C15-A076-0D7F427A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Bảng XacNhanSan ghi nhận giờ nhận, giờ trả và hiện trạng sân.</a:t>
            </a:r>
          </a:p>
        </p:txBody>
      </p:sp>
      <p:sp>
        <p:nvSpPr>
          <p:cNvPr id="10" name="Chốt hóa đơn trả sân">
            <a:extLst xmlns:a="http://schemas.openxmlformats.org/drawingml/2006/main">
              <a:ext uri="{FF2B5EF4-FFF2-40B4-BE49-F238E27FC236}">
                <a16:creationId xmlns:a16="http://schemas.microsoft.com/office/drawing/2014/main" id="{489B24CB-92D6-4A93-97E5-4883F50F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96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Chốt hóa đơn trả sân</a:t>
            </a:r>
          </a:p>
        </p:txBody>
      </p:sp>
      <p:sp>
        <p:nvSpPr>
          <p:cNvPr id="11" name="Thời điểm trả sân là mốc khóa dịch vụ và tính toán">
            <a:extLst xmlns:a="http://schemas.openxmlformats.org/drawingml/2006/main">
              <a:ext uri="{FF2B5EF4-FFF2-40B4-BE49-F238E27FC236}">
                <a16:creationId xmlns:a16="http://schemas.microsoft.com/office/drawing/2014/main" id="{B0878421-DA66-4D6D-95DF-89E9A892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484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Thời điểm trả sân là mốc khóa dịch vụ và tính toán hóa đơn cuối cùng.</a:t>
            </a:r>
          </a:p>
        </p:txBody>
      </p:sp>
      <p:sp>
        <p:nvSpPr>
          <p:cNvPr id="12" name="Minh họa ứng dụng kết nối trực tiếp CSDL">
            <a:extLst xmlns:a="http://schemas.openxmlformats.org/drawingml/2006/main">
              <a:ext uri="{FF2B5EF4-FFF2-40B4-BE49-F238E27FC236}">
                <a16:creationId xmlns:a16="http://schemas.microsoft.com/office/drawing/2014/main" id="{0DA7C265-EFF7-45FC-9A22-2A966D3A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2487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Minh họa ứng dụng kết nối trực tiếp CSDL</a:t>
            </a:r>
          </a:p>
        </p:txBody>
      </p:sp>
    </p:spTree>
    <p:extLst>
      <p:ext uri="{BB962C8B-B14F-4D97-AF65-F5344CB8AC3E}">
        <p14:creationId xmlns:p14="http://schemas.microsoft.com/office/powerpoint/2010/main" val="3694139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A9435-D988-44E4-8447-62CFA2B02C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ba7e12134419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DỊCH VỤ VÀ GIÁ SNAPSHOT">
            <a:extLst xmlns:a="http://schemas.openxmlformats.org/drawingml/2006/main">
              <a:ext uri="{FF2B5EF4-FFF2-40B4-BE49-F238E27FC236}">
                <a16:creationId xmlns:a16="http://schemas.microsoft.com/office/drawing/2014/main" id="{1262788E-DB19-4E69-ADB2-702A00DE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DỊCH VỤ VÀ GIÁ SNAPSHOT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49CDD7D0-3883-4CEC-946B-7D7C5526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420C6093-0A2E-4BAE-9F42-1DB07778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3FE4A-500D-433C-B1EB-3D10045C60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23d99ceb0406f"/>
          <a:stretch xmlns:a="http://schemas.openxmlformats.org/drawingml/2006/main"/>
        </p:blipFill>
        <p:spPr>
          <a:xfrm xmlns:a="http://schemas.openxmlformats.org/drawingml/2006/main">
            <a:off x="8600541" y="2190750"/>
            <a:ext cx="7278168" cy="6953250"/>
          </a:xfrm>
          <a:prstGeom xmlns:a="http://schemas.openxmlformats.org/drawingml/2006/main" prst="rect">
            <a:avLst/>
          </a:prstGeom>
        </p:spPr>
      </p:pic>
      <p:sp>
        <p:nvSpPr>
          <p:cNvPr id="6" name="Quản lý dịch vụ [Phạm Phúc Hưng]">
            <a:extLst xmlns:a="http://schemas.openxmlformats.org/drawingml/2006/main">
              <a:ext uri="{FF2B5EF4-FFF2-40B4-BE49-F238E27FC236}">
                <a16:creationId xmlns:a16="http://schemas.microsoft.com/office/drawing/2014/main" id="{48BFB6E1-4412-47B7-B8CE-CA861BFF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lý dịch vụ [Phạm Phúc Hưng]</a:t>
            </a:r>
          </a:p>
        </p:txBody>
      </p:sp>
      <p:sp>
        <p:nvSpPr>
          <p:cNvPr id="7" name="Hỗ trợ dịch vụ đặt trước hoặc gọi phát sinh trong ">
            <a:extLst xmlns:a="http://schemas.openxmlformats.org/drawingml/2006/main">
              <a:ext uri="{FF2B5EF4-FFF2-40B4-BE49-F238E27FC236}">
                <a16:creationId xmlns:a16="http://schemas.microsoft.com/office/drawing/2014/main" id="{A261AB9C-930F-4D4E-B78E-10FE2A0A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Hỗ trợ dịch vụ đặt trước hoặc gọi phát sinh trong lúc đá bóng.</a:t>
            </a:r>
          </a:p>
        </p:txBody>
      </p:sp>
      <p:sp>
        <p:nvSpPr>
          <p:cNvPr id="8" name="Quy cách Lốc 6 giảm 3%">
            <a:extLst xmlns:a="http://schemas.openxmlformats.org/drawingml/2006/main">
              <a:ext uri="{FF2B5EF4-FFF2-40B4-BE49-F238E27FC236}">
                <a16:creationId xmlns:a16="http://schemas.microsoft.com/office/drawing/2014/main" id="{BE791536-87A2-4E7A-8885-9F2DB3BF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Quy cách Lốc 6 giảm 3%</a:t>
            </a:r>
          </a:p>
        </p:txBody>
      </p:sp>
      <p:sp>
        <p:nvSpPr>
          <p:cNvPr id="9" name="Cột PERSISTED tự động tính giảm 3% đơn giá cho khá">
            <a:extLst xmlns:a="http://schemas.openxmlformats.org/drawingml/2006/main">
              <a:ext uri="{FF2B5EF4-FFF2-40B4-BE49-F238E27FC236}">
                <a16:creationId xmlns:a16="http://schemas.microsoft.com/office/drawing/2014/main" id="{AC985D81-DB55-4AAD-B6F4-E1FDF22F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Cột PERSISTED tự động tính giảm 3% đơn giá cho khách mua lốc 6.</a:t>
            </a:r>
          </a:p>
        </p:txBody>
      </p:sp>
      <p:sp>
        <p:nvSpPr>
          <p:cNvPr id="10" name="Trigger đồng bộ tiền">
            <a:extLst xmlns:a="http://schemas.openxmlformats.org/drawingml/2006/main">
              <a:ext uri="{FF2B5EF4-FFF2-40B4-BE49-F238E27FC236}">
                <a16:creationId xmlns:a16="http://schemas.microsoft.com/office/drawing/2014/main" id="{AC03A192-0C9D-4BD4-BEFB-357303F7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96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Trigger đồng bộ tiền</a:t>
            </a:r>
          </a:p>
        </p:txBody>
      </p:sp>
      <p:sp>
        <p:nvSpPr>
          <p:cNvPr id="11" name="TRG_CapNhatTienDatSan tự động cộng tổng tiền dịch ">
            <a:extLst xmlns:a="http://schemas.openxmlformats.org/drawingml/2006/main">
              <a:ext uri="{FF2B5EF4-FFF2-40B4-BE49-F238E27FC236}">
                <a16:creationId xmlns:a16="http://schemas.microsoft.com/office/drawing/2014/main" id="{AB58F54E-8E1F-4231-A280-94810566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484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TRG_CapNhatTienDatSan tự động cộng tổng tiền dịch vụ vào DatSan.</a:t>
            </a:r>
          </a:p>
        </p:txBody>
      </p:sp>
      <p:sp>
        <p:nvSpPr>
          <p:cNvPr id="12" name="Minh họa ứng dụng kết nối trực tiếp CSDL">
            <a:extLst xmlns:a="http://schemas.openxmlformats.org/drawingml/2006/main">
              <a:ext uri="{FF2B5EF4-FFF2-40B4-BE49-F238E27FC236}">
                <a16:creationId xmlns:a16="http://schemas.microsoft.com/office/drawing/2014/main" id="{4BF8A541-158C-4645-A955-34E31A09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2487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Minh họa ứng dụng kết nối trực tiếp CSDL</a:t>
            </a:r>
          </a:p>
        </p:txBody>
      </p:sp>
    </p:spTree>
    <p:extLst>
      <p:ext uri="{BB962C8B-B14F-4D97-AF65-F5344CB8AC3E}">
        <p14:creationId xmlns:p14="http://schemas.microsoft.com/office/powerpoint/2010/main" val="9780136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1A09B-2C88-44D5-8732-0B3926DB5A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61c6cfa31496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HÓA ĐƠN VÀ THANH TOÁN">
            <a:extLst xmlns:a="http://schemas.openxmlformats.org/drawingml/2006/main">
              <a:ext uri="{FF2B5EF4-FFF2-40B4-BE49-F238E27FC236}">
                <a16:creationId xmlns:a16="http://schemas.microsoft.com/office/drawing/2014/main" id="{26B7F648-03F5-474D-BDDC-FD933C94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HÓA ĐƠN VÀ THANH TOÁN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F1A2F82A-B785-4232-9298-E3793291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B8AEB028-034F-4A53-8963-FC0A7EEA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C46EF-2BDB-4F46-87F6-67F6DF7CD9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5c51a2b4d4d13"/>
          <a:stretch xmlns:a="http://schemas.openxmlformats.org/drawingml/2006/main"/>
        </p:blipFill>
        <p:spPr>
          <a:xfrm xmlns:a="http://schemas.openxmlformats.org/drawingml/2006/main">
            <a:off x="7965920" y="2190750"/>
            <a:ext cx="8547410" cy="6953250"/>
          </a:xfrm>
          <a:prstGeom xmlns:a="http://schemas.openxmlformats.org/drawingml/2006/main" prst="rect">
            <a:avLst/>
          </a:prstGeom>
        </p:spPr>
      </p:pic>
      <p:sp>
        <p:nvSpPr>
          <p:cNvPr id="6" name="Quản trị tài chính [Võ Văn Gia Hưng]">
            <a:extLst xmlns:a="http://schemas.openxmlformats.org/drawingml/2006/main">
              <a:ext uri="{FF2B5EF4-FFF2-40B4-BE49-F238E27FC236}">
                <a16:creationId xmlns:a16="http://schemas.microsoft.com/office/drawing/2014/main" id="{4A7EABE8-A344-40B5-955F-230181FA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 tài chính [Võ Văn Gia Hưng]</a:t>
            </a:r>
          </a:p>
        </p:txBody>
      </p:sp>
      <p:sp>
        <p:nvSpPr>
          <p:cNvPr id="7" name="Đảm bảo 1 hóa đơn/booking, hỗ trợ thanh toán nhiều">
            <a:extLst xmlns:a="http://schemas.openxmlformats.org/drawingml/2006/main">
              <a:ext uri="{FF2B5EF4-FFF2-40B4-BE49-F238E27FC236}">
                <a16:creationId xmlns:a16="http://schemas.microsoft.com/office/drawing/2014/main" id="{0A60CB6E-7281-4377-A9AF-B2ADECD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Đảm bảo 1 hóa đơn/booking, hỗ trợ thanh toán nhiều lần tiền mặt/QR.</a:t>
            </a:r>
          </a:p>
        </p:txBody>
      </p:sp>
      <p:sp>
        <p:nvSpPr>
          <p:cNvPr id="8" name="Trigger đóng băng hóa đơn">
            <a:extLst xmlns:a="http://schemas.openxmlformats.org/drawingml/2006/main">
              <a:ext uri="{FF2B5EF4-FFF2-40B4-BE49-F238E27FC236}">
                <a16:creationId xmlns:a16="http://schemas.microsoft.com/office/drawing/2014/main" id="{08D1B286-80CC-4193-AB7F-3CECD04E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Trigger đóng băng hóa đơn</a:t>
            </a:r>
          </a:p>
        </p:txBody>
      </p:sp>
      <p:sp>
        <p:nvSpPr>
          <p:cNvPr id="9" name="TRG_SealedInvoiceSnapshot khóa bất biến số tiền sa">
            <a:extLst xmlns:a="http://schemas.openxmlformats.org/drawingml/2006/main">
              <a:ext uri="{FF2B5EF4-FFF2-40B4-BE49-F238E27FC236}">
                <a16:creationId xmlns:a16="http://schemas.microsoft.com/office/drawing/2014/main" id="{A682904E-BB2E-4C58-B110-5E22AC81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TRG_SealedInvoiceSnapshot khóa bất biến số tiền sau khi đã chốt.</a:t>
            </a:r>
          </a:p>
        </p:txBody>
      </p:sp>
      <p:sp>
        <p:nvSpPr>
          <p:cNvPr id="10" name="Chính sách hủy 10h / 2h">
            <a:extLst xmlns:a="http://schemas.openxmlformats.org/drawingml/2006/main">
              <a:ext uri="{FF2B5EF4-FFF2-40B4-BE49-F238E27FC236}">
                <a16:creationId xmlns:a16="http://schemas.microsoft.com/office/drawing/2014/main" id="{6685E84A-11A1-4775-AE9B-8879A499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96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Chính sách hủy 10h / 2h</a:t>
            </a:r>
          </a:p>
        </p:txBody>
      </p:sp>
      <p:sp>
        <p:nvSpPr>
          <p:cNvPr id="11" name="Hàm fn_TyLeHoan tự động trả về tỷ lệ hoàn tiền 100">
            <a:extLst xmlns:a="http://schemas.openxmlformats.org/drawingml/2006/main">
              <a:ext uri="{FF2B5EF4-FFF2-40B4-BE49-F238E27FC236}">
                <a16:creationId xmlns:a16="http://schemas.microsoft.com/office/drawing/2014/main" id="{B441CF4A-2235-415B-B2F1-9AE6B3F1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484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Hàm fn_TyLeHoan tự động trả về tỷ lệ hoàn tiền 100%, 50% hoặc 0%.</a:t>
            </a:r>
          </a:p>
        </p:txBody>
      </p:sp>
      <p:sp>
        <p:nvSpPr>
          <p:cNvPr id="12" name="Minh họa ứng dụng kết nối trực tiếp CSDL">
            <a:extLst xmlns:a="http://schemas.openxmlformats.org/drawingml/2006/main">
              <a:ext uri="{FF2B5EF4-FFF2-40B4-BE49-F238E27FC236}">
                <a16:creationId xmlns:a16="http://schemas.microsoft.com/office/drawing/2014/main" id="{979C9EE4-909B-44D6-B334-72D641B6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2487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Minh họa ứng dụng kết nối trực tiếp CSDL</a:t>
            </a:r>
          </a:p>
        </p:txBody>
      </p:sp>
    </p:spTree>
    <p:extLst>
      <p:ext uri="{BB962C8B-B14F-4D97-AF65-F5344CB8AC3E}">
        <p14:creationId xmlns:p14="http://schemas.microsoft.com/office/powerpoint/2010/main" val="12855520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E7C22-C018-4BDC-BE15-ACB34A4E94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61252e2064af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QUẢN TRỊ VÀ PHÂN QUYỀN">
            <a:extLst xmlns:a="http://schemas.openxmlformats.org/drawingml/2006/main">
              <a:ext uri="{FF2B5EF4-FFF2-40B4-BE49-F238E27FC236}">
                <a16:creationId xmlns:a16="http://schemas.microsoft.com/office/drawing/2014/main" id="{25EDEFF6-7884-47E0-B211-4F33868A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 VÀ PHÂN QUYỀN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DE1113AD-E5F0-4601-8D96-9D462378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3505B61A-E82F-4105-BF26-8C0CD596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44AC5-7C3B-421E-93CC-64E6851D6D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8dcbfc64b4059"/>
          <a:stretch xmlns:a="http://schemas.openxmlformats.org/drawingml/2006/main"/>
        </p:blipFill>
        <p:spPr>
          <a:xfrm xmlns:a="http://schemas.openxmlformats.org/drawingml/2006/main">
            <a:off x="7965920" y="2190750"/>
            <a:ext cx="8547410" cy="6953250"/>
          </a:xfrm>
          <a:prstGeom xmlns:a="http://schemas.openxmlformats.org/drawingml/2006/main" prst="rect">
            <a:avLst/>
          </a:prstGeom>
        </p:spPr>
      </p:pic>
      <p:sp>
        <p:nvSpPr>
          <p:cNvPr id="6" name="Quản trị người dùng [Phan Tiến Đạt]">
            <a:extLst xmlns:a="http://schemas.openxmlformats.org/drawingml/2006/main">
              <a:ext uri="{FF2B5EF4-FFF2-40B4-BE49-F238E27FC236}">
                <a16:creationId xmlns:a16="http://schemas.microsoft.com/office/drawing/2014/main" id="{346FA7B8-B999-4F07-8F84-D44106EB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 người dùng [Phan Tiến Đạt]</a:t>
            </a:r>
          </a:p>
        </p:txBody>
      </p:sp>
      <p:sp>
        <p:nvSpPr>
          <p:cNvPr id="7" name="Thêm/khóa tài khoản nhân viên, phân công vai trò t">
            <a:extLst xmlns:a="http://schemas.openxmlformats.org/drawingml/2006/main">
              <a:ext uri="{FF2B5EF4-FFF2-40B4-BE49-F238E27FC236}">
                <a16:creationId xmlns:a16="http://schemas.microsoft.com/office/drawing/2014/main" id="{D2D242A2-27AA-45D6-BB2C-1C065CE1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Thêm/khóa tài khoản nhân viên, phân công vai trò trong hệ thống.</a:t>
            </a:r>
          </a:p>
        </p:txBody>
      </p:sp>
      <p:sp>
        <p:nvSpPr>
          <p:cNvPr id="8" name="Ma trận quyền chi tiết">
            <a:extLst xmlns:a="http://schemas.openxmlformats.org/drawingml/2006/main">
              <a:ext uri="{FF2B5EF4-FFF2-40B4-BE49-F238E27FC236}">
                <a16:creationId xmlns:a16="http://schemas.microsoft.com/office/drawing/2014/main" id="{13FB5AB2-78E2-4453-957A-80959B33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 trận quyền chi tiết</a:t>
            </a:r>
          </a:p>
        </p:txBody>
      </p:sp>
      <p:sp>
        <p:nvSpPr>
          <p:cNvPr id="9" name="Bảng PhanQuyen phân định quyền Xem, Thêm, Sửa, Xóa">
            <a:extLst xmlns:a="http://schemas.openxmlformats.org/drawingml/2006/main">
              <a:ext uri="{FF2B5EF4-FFF2-40B4-BE49-F238E27FC236}">
                <a16:creationId xmlns:a16="http://schemas.microsoft.com/office/drawing/2014/main" id="{3B5C6337-382F-4B5C-87A7-96ABCA73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Bảng PhanQuyen phân định quyền Xem, Thêm, Sửa, Xóa từng chức năng.</a:t>
            </a:r>
          </a:p>
        </p:txBody>
      </p:sp>
      <p:sp>
        <p:nvSpPr>
          <p:cNvPr id="10" name="Nhật ký hệ thống bất biến">
            <a:extLst xmlns:a="http://schemas.openxmlformats.org/drawingml/2006/main">
              <a:ext uri="{FF2B5EF4-FFF2-40B4-BE49-F238E27FC236}">
                <a16:creationId xmlns:a16="http://schemas.microsoft.com/office/drawing/2014/main" id="{0C2C32FC-8A4B-4D92-B133-382A9A10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96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Nhật ký hệ thống bất biến</a:t>
            </a:r>
          </a:p>
        </p:txBody>
      </p:sp>
      <p:sp>
        <p:nvSpPr>
          <p:cNvPr id="11" name="Bảng NhatKyHeThong ghi nhận mọi thao tác đăng nhập">
            <a:extLst xmlns:a="http://schemas.openxmlformats.org/drawingml/2006/main">
              <a:ext uri="{FF2B5EF4-FFF2-40B4-BE49-F238E27FC236}">
                <a16:creationId xmlns:a16="http://schemas.microsoft.com/office/drawing/2014/main" id="{C80F85F3-77B5-4283-BB8B-45BBEC84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484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Bảng NhatKyHeThong ghi nhận mọi thao tác đăng nhập và sửa đổi.</a:t>
            </a:r>
          </a:p>
        </p:txBody>
      </p:sp>
      <p:sp>
        <p:nvSpPr>
          <p:cNvPr id="12" name="Minh họa ứng dụng kết nối trực tiếp CSDL">
            <a:extLst xmlns:a="http://schemas.openxmlformats.org/drawingml/2006/main">
              <a:ext uri="{FF2B5EF4-FFF2-40B4-BE49-F238E27FC236}">
                <a16:creationId xmlns:a16="http://schemas.microsoft.com/office/drawing/2014/main" id="{80C67FD5-0974-429B-BED7-2E066300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2487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Minh họa ứng dụng kết nối trực tiếp CSDL</a:t>
            </a:r>
          </a:p>
        </p:txBody>
      </p:sp>
    </p:spTree>
    <p:extLst>
      <p:ext uri="{BB962C8B-B14F-4D97-AF65-F5344CB8AC3E}">
        <p14:creationId xmlns:p14="http://schemas.microsoft.com/office/powerpoint/2010/main" val="20495326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CCE08-097F-4DCA-9071-CFFD378366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031d1598c4e9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RÀNG BUỘC TOÀN VẸN &amp; INDEX">
            <a:extLst xmlns:a="http://schemas.openxmlformats.org/drawingml/2006/main">
              <a:ext uri="{FF2B5EF4-FFF2-40B4-BE49-F238E27FC236}">
                <a16:creationId xmlns:a16="http://schemas.microsoft.com/office/drawing/2014/main" id="{21696A94-D44C-4CA0-B018-A2595CAD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RÀNG BUỘC TOÀN VẸN &amp; INDEX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49804832-D0D9-433C-9BC5-3B809EBA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9B671CEF-AC7E-43FA-B784-5FD8E59D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EB589-4AD6-44B8-9A52-7BC8EE09A870}"/>
              </a:ext>
            </a:extLst>
          </p:cNvPr>
          <p:cNvGraphicFramePr/>
          <p:nvPr/>
        </p:nvGraphicFramePr>
        <p:xfrm>
          <a:off xmlns:a="http://schemas.openxmlformats.org/drawingml/2006/main" x="1028700" y="2428875"/>
          <a:ext xmlns:a="http://schemas.openxmlformats.org/drawingml/2006/main" cx="162306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667000"/>
                <a:gridCol w="9563100"/>
              </a:tblGrid>
              <a:tr h="1031875">
                <a:tc>
                  <a:txBody>
                    <a:bodyPr lIns="133350" tIns="133350" rIns="133350" bIns="133350"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Thành phần SQL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Số lượng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Nghiệp vụ áp dụng &amp; Ý nghĩa kỹ thuật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</a:tr>
              <a:tr h="1031875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CHECK Constraint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52 ràng buộc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Giờ kết thúc &gt; bắt đầu (07:00-22:00), tiền &gt;= 0, trạng thái sân, tỷ lệ hoàn 0-100%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1031875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UNIQUE &amp; DEFAULT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6 UQ • 41 DF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1 Hóa đơn/Booking, UQ số điện thoại, UQ username, Default getdate(), TrangThai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1031875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IX_DatSan_SanNgayBatDau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Non-Clustered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Tăng tốc tìm kiếm theo Sân, Ngày chơi và Giờ bắt đầu (giảm I/O truy vấn lịch)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1031875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UX_DatSan_KhongTrungLich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Filtered Index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Chống trùng slot cho lượt đặt còn hiệu lực (WHERE TrangThai &lt;&gt; N'Đã hủy')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1031875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Minh chứng hiệu năng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Benchmark Plan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Execution Plan: chuyển Clustered Index Scan → Index Seek, giảm số lần đọc trang (reads)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57000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2F1CB-BCFE-4E28-B71B-5482944759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456c1d2d14cc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STORED PROCEDURE VÀ FUNCTION">
            <a:extLst xmlns:a="http://schemas.openxmlformats.org/drawingml/2006/main">
              <a:ext uri="{FF2B5EF4-FFF2-40B4-BE49-F238E27FC236}">
                <a16:creationId xmlns:a16="http://schemas.microsoft.com/office/drawing/2014/main" id="{986E67F3-BC51-4684-B81C-305CF628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STORED PROCEDURE VÀ FUNCTION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02738354-B275-404B-941C-ED26C2E9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9EDB01C6-392F-4BAC-974E-F3C5C8C0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4474E-B031-46E9-B429-AB189BA39CC0}"/>
              </a:ext>
            </a:extLst>
          </p:cNvPr>
          <p:cNvGraphicFramePr/>
          <p:nvPr/>
        </p:nvGraphicFramePr>
        <p:xfrm>
          <a:off xmlns:a="http://schemas.openxmlformats.org/drawingml/2006/main" x="1028700" y="2428875"/>
          <a:ext xmlns:a="http://schemas.openxmlformats.org/drawingml/2006/main" cx="162306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143250"/>
                <a:gridCol w="8991600"/>
              </a:tblGrid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Tên đối tượng SQL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Phân loại &amp; Xử lý lỗi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tả nghiệp vụ &amp; Thành viên phụ trách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</a:tr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usp_ReportUsage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SP (TRY...CATCH)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Báo cáo công suất, số lượt đặt và tổng giờ chơi của từng sân [Võ Minh Quân]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usp_ReportFinance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SP (TRY...CATCH)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Báo cáo doanh thu phát sinh và đối soát dòng tiền thực nhận [Võ Văn Gia Hưng]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usp_ReportPaymentMethods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SP (TRY...CATCH)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Phân tích cơ cấu phương thức thanh toán Tiền mặt vs Chuyển khoản [Võ Văn Gia Hưng]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usp_ReportTopServices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SP (TRY...CATCH)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Thống kê top dịch vụ bán chạy nhất và doanh thu dịch vụ [Phạm Phúc Hưng]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usp_ReportReconciliation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SP (TRY...CATCH)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Đối soát công nợ hóa đơn (đủ tiền, 1 phần, chưa thanh toán) [Phan Tiến Đạt]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fn_KhungGioTrongTheoNgay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Inline Table UDF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Trả về danh sách các khung giờ còn trống trong ngày của sân [Võ Minh Quân]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fn_TyLeHoan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Scalar Function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Tính tỷ lệ hoàn tiền hủy sân theo quy định mốc 10h / 2h [Võ Văn Gia Hưng]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5052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6D959-C57F-4466-85CE-D345C53E32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fb4625a2748c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RIGGER VÀ VIEW NGHIỆP VỤ">
            <a:extLst xmlns:a="http://schemas.openxmlformats.org/drawingml/2006/main">
              <a:ext uri="{FF2B5EF4-FFF2-40B4-BE49-F238E27FC236}">
                <a16:creationId xmlns:a16="http://schemas.microsoft.com/office/drawing/2014/main" id="{33719948-D535-4FD0-8F92-289E4409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TRIGGER VÀ VIEW NGHIỆP VỤ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E8825354-2CFA-4217-81FF-E4ECD2B8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EE586D77-1299-4821-9FBD-A1C7A1D2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FBE52-32F7-41AE-B8D5-2BC29D6A2F12}"/>
              </a:ext>
            </a:extLst>
          </p:cNvPr>
          <p:cNvGraphicFramePr/>
          <p:nvPr/>
        </p:nvGraphicFramePr>
        <p:xfrm>
          <a:off xmlns:a="http://schemas.openxmlformats.org/drawingml/2006/main" x="1028700" y="2428875"/>
          <a:ext xmlns:a="http://schemas.openxmlformats.org/drawingml/2006/main" cx="162306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810000"/>
                <a:gridCol w="8039100"/>
              </a:tblGrid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Tên đối tượng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Sự kiện &amp; Bảng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Ý nghĩa nghiệp vụ &amp; Bảo vệ dữ liệu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T w="9525">
                      <a:solidFill>
                        <a:srgbClr val="89B6E0"/>
                      </a:solidFill>
                      <a:prstDash val="solid"/>
                    </a:lnT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173C5E"/>
                    </a:solidFill>
                  </a:tcPr>
                </a:tc>
              </a:tr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TRG_CapNhatTienDatSan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AFTER INS/UPD/DEL (ChiTietDichVu)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Tự động tính tổng tiền dịch vụ và ghi đè vào DatSan.TienDichVu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TRG_ServicePriceSnapshot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AFTER UPDATE (ChiTietDichVu)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Khóa bất biến đơn giá snapshot sau khi ghi nhận, chỉ cho sửa số lượng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TRG_SealedInvoiceSnapshot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AFTER UPDATE (HoaDon)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Đóng băng snapshot số tiền hóa đơn khi đã chốt trả sân (DaChot = 1)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TRG_SuccessfulPaymentSnapshot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AFTER UPDATE (ThanhToan)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Khoản thu thành công là bất biến, muốn trả tiền phải qua phiếu HoanTien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TRG_AuditContentImmutable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AFTER UPDATE (NhatKyHeThong)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Bảo đảm nhật ký hệ thống là Append-only, tuyệt đối cấm sửa đổi lịch sử log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V_ThuChiThucNhan / V_DoanhThu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View Tài chính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Tổng hợp dòng tiền thực nhận (Thu trừ Hoàn) và doanh thu đã thu theo ngày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  <a:tr h="773906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V_KhungGioTrong / V_TyLeLapDay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89B6E0"/>
                      </a:solidFill>
                      <a:prstDash val="solid"/>
                    </a:lnL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View Vận hành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5344D"/>
                          </a:solidFill>
                          <a:latin typeface="Arial"/>
                          <a:ea typeface="Arial"/>
                          <a:cs typeface="Arial"/>
                        </a:rPr>
                        <a:t>Tổng hợp lịch sân trống và tỷ lệ lấp đầy khung giờ theo ngày phục vụ tra cứu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89B6E0"/>
                      </a:solidFill>
                      <a:prstDash val="solid"/>
                    </a:lnR>
                    <a:lnB w="9525">
                      <a:solidFill>
                        <a:srgbClr val="89B6E0"/>
                      </a:solidFill>
                      <a:prstDash val="solid"/>
                    </a:lnB>
                    <a:solidFill>
                      <a:srgbClr val="EDF5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3977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8C02B-97CB-4E22-9F3D-7D522D19AE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c8d919a5940c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RANSACTION BACKUP VÀ BẢO MẬT">
            <a:extLst xmlns:a="http://schemas.openxmlformats.org/drawingml/2006/main">
              <a:ext uri="{FF2B5EF4-FFF2-40B4-BE49-F238E27FC236}">
                <a16:creationId xmlns:a16="http://schemas.microsoft.com/office/drawing/2014/main" id="{F3AB7907-7FBF-4AA0-A425-DA82693A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TRANSACTION BACKUP VÀ BẢO MẬT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4A98EEA8-1B16-4C19-B266-5C71FD0D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5F69F215-6B24-4C16-89B0-49F249CC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5 Giao dịch Transaction cốt lõi">
            <a:extLst xmlns:a="http://schemas.openxmlformats.org/drawingml/2006/main">
              <a:ext uri="{FF2B5EF4-FFF2-40B4-BE49-F238E27FC236}">
                <a16:creationId xmlns:a16="http://schemas.microsoft.com/office/drawing/2014/main" id="{2EAB75B1-D766-429E-9A14-D8EBD910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Giao dịch Transaction cốt lõi</a:t>
            </a:r>
          </a:p>
        </p:txBody>
      </p:sp>
      <p:sp>
        <p:nvSpPr>
          <p:cNvPr id="6" name="Đặt sân, Thêm dịch vụ, Trả sân chốt hóa đơn, Thanh">
            <a:extLst xmlns:a="http://schemas.openxmlformats.org/drawingml/2006/main">
              <a:ext uri="{FF2B5EF4-FFF2-40B4-BE49-F238E27FC236}">
                <a16:creationId xmlns:a16="http://schemas.microsoft.com/office/drawing/2014/main" id="{343EF12D-CE40-4725-A67B-357C5AE5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1609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Đặt sân, Thêm dịch vụ, Trả sân chốt hóa đơn, Thanh toán nhiều lần, Hủy &amp; hoàn tiền.</a:t>
            </a:r>
          </a:p>
        </p:txBody>
      </p:sp>
      <p:sp>
        <p:nvSpPr>
          <p:cNvPr id="7" name="Khóa chống tranh chấp đồng thời">
            <a:extLst xmlns:a="http://schemas.openxmlformats.org/drawingml/2006/main">
              <a:ext uri="{FF2B5EF4-FFF2-40B4-BE49-F238E27FC236}">
                <a16:creationId xmlns:a16="http://schemas.microsoft.com/office/drawing/2014/main" id="{AC171D5E-F2FC-4F99-A6A7-C8802962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5287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Khóa chống tranh chấp đồng thời</a:t>
            </a:r>
          </a:p>
        </p:txBody>
      </p:sp>
      <p:sp>
        <p:nvSpPr>
          <p:cNvPr id="8" name="Dùng gợi ý khóa WITH (UPDLOCK, HOLDLOCK) trong tra">
            <a:extLst xmlns:a="http://schemas.openxmlformats.org/drawingml/2006/main">
              <a:ext uri="{FF2B5EF4-FFF2-40B4-BE49-F238E27FC236}">
                <a16:creationId xmlns:a16="http://schemas.microsoft.com/office/drawing/2014/main" id="{4DBA4450-690F-47D0-BA86-CB7D0D81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05325"/>
            <a:ext cx="1609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Dùng gợi ý khóa WITH (UPDLOCK, HOLDLOCK) trong transaction kiểm tra, chống đặt trùng giờ.</a:t>
            </a:r>
          </a:p>
        </p:txBody>
      </p:sp>
      <p:sp>
        <p:nvSpPr>
          <p:cNvPr id="9" name="Bảo mật phân quyền 4 SQL Role">
            <a:extLst xmlns:a="http://schemas.openxmlformats.org/drawingml/2006/main">
              <a:ext uri="{FF2B5EF4-FFF2-40B4-BE49-F238E27FC236}">
                <a16:creationId xmlns:a16="http://schemas.microsoft.com/office/drawing/2014/main" id="{28E88D8E-7B22-46C1-840E-FC80E60D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Bảo mật phân quyền 4 SQL Role</a:t>
            </a:r>
          </a:p>
        </p:txBody>
      </p:sp>
      <p:sp>
        <p:nvSpPr>
          <p:cNvPr id="10" name="SB_Customer (chỉ xem sân), SB_PitchStaff (vận hành">
            <a:extLst xmlns:a="http://schemas.openxmlformats.org/drawingml/2006/main">
              <a:ext uri="{FF2B5EF4-FFF2-40B4-BE49-F238E27FC236}">
                <a16:creationId xmlns:a16="http://schemas.microsoft.com/office/drawing/2014/main" id="{E4B7FD91-3678-4A38-8D38-CB139731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76950"/>
            <a:ext cx="1609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SB_Customer (chỉ xem sân), SB_PitchStaff (vận hành), SB_Accountant (tài chính), SB_Manager.</a:t>
            </a:r>
          </a:p>
        </p:txBody>
      </p:sp>
      <p:sp>
        <p:nvSpPr>
          <p:cNvPr id="11" name="Nguyên tắc đặc quyền tối thiểu">
            <a:extLst xmlns:a="http://schemas.openxmlformats.org/drawingml/2006/main">
              <a:ext uri="{FF2B5EF4-FFF2-40B4-BE49-F238E27FC236}">
                <a16:creationId xmlns:a16="http://schemas.microsoft.com/office/drawing/2014/main" id="{E0E428BA-5854-4E85-9A3F-AEA7CF03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961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Nguyên tắc đặc quyền tối thiểu</a:t>
            </a:r>
          </a:p>
        </p:txBody>
      </p:sp>
      <p:sp>
        <p:nvSpPr>
          <p:cNvPr id="12" name="Áp dụng GRANT/DENY rõ ràng, cấm DELETE trên giao d">
            <a:extLst xmlns:a="http://schemas.openxmlformats.org/drawingml/2006/main">
              <a:ext uri="{FF2B5EF4-FFF2-40B4-BE49-F238E27FC236}">
                <a16:creationId xmlns:a16="http://schemas.microsoft.com/office/drawing/2014/main" id="{4FB0FD4A-E1C6-4714-BAFD-B2D50418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48575"/>
            <a:ext cx="1609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Áp dụng GRANT/DENY rõ ràng, cấm DELETE trên giao dịch tài chính, mã hóa mật khẩu hash BCrypt.</a:t>
            </a:r>
          </a:p>
        </p:txBody>
      </p:sp>
    </p:spTree>
    <p:extLst>
      <p:ext uri="{BB962C8B-B14F-4D97-AF65-F5344CB8AC3E}">
        <p14:creationId xmlns:p14="http://schemas.microsoft.com/office/powerpoint/2010/main" val="161405327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0C4AF-44A9-4398-B0B5-2BF936E3E0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89ec97b164d81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KỊCH BẢN DEMO &amp; VẤN ĐÁP">
            <a:extLst xmlns:a="http://schemas.openxmlformats.org/drawingml/2006/main">
              <a:ext uri="{FF2B5EF4-FFF2-40B4-BE49-F238E27FC236}">
                <a16:creationId xmlns:a16="http://schemas.microsoft.com/office/drawing/2014/main" id="{D7D8446A-4B5B-4D92-964A-15C81544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"/>
            <a:ext cx="1619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KỊCH BẢN DEMO &amp; VẤN ĐÁP</a:t>
            </a:r>
          </a:p>
        </p:txBody>
      </p:sp>
      <p:sp>
        <p:nvSpPr>
          <p:cNvPr id="3" name="FC-UTE   Nhóm 18">
            <a:extLst xmlns:a="http://schemas.openxmlformats.org/drawingml/2006/main">
              <a:ext uri="{FF2B5EF4-FFF2-40B4-BE49-F238E27FC236}">
                <a16:creationId xmlns:a16="http://schemas.microsoft.com/office/drawing/2014/main" id="{B2F6335A-C897-4439-B30C-05892B8D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96450"/>
            <a:ext cx="1238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FC-UTE   Nhóm 18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7A4DAE9C-932A-41A7-8AD1-B1C09B32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964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Bước 1: Võ Minh Quân demo Đặt sân &amp; Index">
            <a:extLst xmlns:a="http://schemas.openxmlformats.org/drawingml/2006/main">
              <a:ext uri="{FF2B5EF4-FFF2-40B4-BE49-F238E27FC236}">
                <a16:creationId xmlns:a16="http://schemas.microsoft.com/office/drawing/2014/main" id="{220FB8B3-F4D4-4067-A83A-CF6FBED4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336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Bước 1: Võ Minh Quân demo Đặt sân &amp; Index</a:t>
            </a:r>
          </a:p>
        </p:txBody>
      </p:sp>
      <p:sp>
        <p:nvSpPr>
          <p:cNvPr id="6" name="Test CHECK giờ sai (lỗi 547), gọi SP usp_ReportUsa">
            <a:extLst xmlns:a="http://schemas.openxmlformats.org/drawingml/2006/main">
              <a:ext uri="{FF2B5EF4-FFF2-40B4-BE49-F238E27FC236}">
                <a16:creationId xmlns:a16="http://schemas.microsoft.com/office/drawing/2014/main" id="{A50A625E-6B99-4071-9D0B-C96E532D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86075"/>
            <a:ext cx="1609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Test CHECK giờ sai (lỗi 547), gọi SP usp_ReportUsage, minh chứng Execution Plan Seek vs Scan.</a:t>
            </a:r>
          </a:p>
        </p:txBody>
      </p:sp>
      <p:sp>
        <p:nvSpPr>
          <p:cNvPr id="7" name="Bước 2: Phạm Phúc Hưng demo Dịch vụ &amp; Snapshot">
            <a:extLst xmlns:a="http://schemas.openxmlformats.org/drawingml/2006/main">
              <a:ext uri="{FF2B5EF4-FFF2-40B4-BE49-F238E27FC236}">
                <a16:creationId xmlns:a16="http://schemas.microsoft.com/office/drawing/2014/main" id="{EAAB6B61-0371-40E1-BA33-9DCC70BD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Bước 2: Phạm Phúc Hưng demo Dịch vụ &amp; Snapshot</a:t>
            </a:r>
          </a:p>
        </p:txBody>
      </p:sp>
      <p:sp>
        <p:nvSpPr>
          <p:cNvPr id="8" name="Thêm dịch vụ Lốc 6 (-3%), Trigger cập nhật tiền, T">
            <a:extLst xmlns:a="http://schemas.openxmlformats.org/drawingml/2006/main">
              <a:ext uri="{FF2B5EF4-FFF2-40B4-BE49-F238E27FC236}">
                <a16:creationId xmlns:a16="http://schemas.microsoft.com/office/drawing/2014/main" id="{6909C122-EE9C-4BF6-8208-58E01ABE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1609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Thêm dịch vụ Lốc 6 (-3%), Trigger cập nhật tiền, Trigger chặn sửa giá snapshot (lỗi 51024).</a:t>
            </a:r>
          </a:p>
        </p:txBody>
      </p:sp>
      <p:sp>
        <p:nvSpPr>
          <p:cNvPr id="9" name="Bước 3: Võ Văn Gia Hưng demo Hóa đơn &amp; Hoàn tiền">
            <a:extLst xmlns:a="http://schemas.openxmlformats.org/drawingml/2006/main">
              <a:ext uri="{FF2B5EF4-FFF2-40B4-BE49-F238E27FC236}">
                <a16:creationId xmlns:a16="http://schemas.microsoft.com/office/drawing/2014/main" id="{511BF7BD-D223-4335-AA6F-AC4F2EB4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8637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Bước 3: Võ Văn Gia Hưng demo Hóa đơn &amp; Hoàn tiền</a:t>
            </a:r>
          </a:p>
        </p:txBody>
      </p:sp>
      <p:sp>
        <p:nvSpPr>
          <p:cNvPr id="10" name="Kiểm thử 3 mốc biên fn_TyLeHoan, Trigger chặn sửa ">
            <a:extLst xmlns:a="http://schemas.openxmlformats.org/drawingml/2006/main">
              <a:ext uri="{FF2B5EF4-FFF2-40B4-BE49-F238E27FC236}">
                <a16:creationId xmlns:a16="http://schemas.microsoft.com/office/drawing/2014/main" id="{2022D918-F582-4315-A4D8-1CCDCB15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38825"/>
            <a:ext cx="1609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Kiểm thử 3 mốc biên fn_TyLeHoan, Trigger chặn sửa tiền hóa đơn đã chốt (lỗi 51026), đối soát thu/hoàn.</a:t>
            </a:r>
          </a:p>
        </p:txBody>
      </p:sp>
      <p:sp>
        <p:nvSpPr>
          <p:cNvPr id="11" name="Bước 4: Phan Tiến Đạt demo Audit Log &amp; Phân quyền">
            <a:extLst xmlns:a="http://schemas.openxmlformats.org/drawingml/2006/main">
              <a:ext uri="{FF2B5EF4-FFF2-40B4-BE49-F238E27FC236}">
                <a16:creationId xmlns:a16="http://schemas.microsoft.com/office/drawing/2014/main" id="{688476E6-4207-417E-9873-CC534204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0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Bước 4: Phan Tiến Đạt demo Audit Log &amp; Phân quyền</a:t>
            </a:r>
          </a:p>
        </p:txBody>
      </p:sp>
      <p:sp>
        <p:nvSpPr>
          <p:cNvPr id="12" name="Trigger chặn sửa log (lỗi 51023), giả lập login Ro">
            <a:extLst xmlns:a="http://schemas.openxmlformats.org/drawingml/2006/main">
              <a:ext uri="{FF2B5EF4-FFF2-40B4-BE49-F238E27FC236}">
                <a16:creationId xmlns:a16="http://schemas.microsoft.com/office/drawing/2014/main" id="{10EDE0A1-CC32-4166-A26C-51DDF6C2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315200"/>
            <a:ext cx="1609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CF4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CF4FA"/>
                </a:solidFill>
                <a:latin typeface="Arial"/>
                <a:ea typeface="Arial"/>
                <a:cs typeface="Arial"/>
              </a:rPr>
              <a:t>Trigger chặn sửa log (lỗi 51023), giả lập login Role Khách hàng bị chặn quyền xóa (DENY).</a:t>
            </a:r>
          </a:p>
        </p:txBody>
      </p:sp>
      <p:sp>
        <p:nvSpPr>
          <p:cNvPr id="13" name="CẢM ƠN CÔ PHAN THỊ THỂ VÀ CÁC BẠN!">
            <a:extLst xmlns:a="http://schemas.openxmlformats.org/drawingml/2006/main">
              <a:ext uri="{FF2B5EF4-FFF2-40B4-BE49-F238E27FC236}">
                <a16:creationId xmlns:a16="http://schemas.microsoft.com/office/drawing/2014/main" id="{C31564F8-B9CA-4C19-B9B8-26631D8A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23912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CẢM ƠN CÔ PHAN THỊ THỂ VÀ CÁC BẠN!</a:t>
            </a:r>
          </a:p>
        </p:txBody>
      </p:sp>
    </p:spTree>
    <p:extLst>
      <p:ext uri="{BB962C8B-B14F-4D97-AF65-F5344CB8AC3E}">
        <p14:creationId xmlns:p14="http://schemas.microsoft.com/office/powerpoint/2010/main" val="1634764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2026-10-26T16:46:19.4810000Z</dcterms:created>
  <dcterms:modified xsi:type="dcterms:W3CDTF">2026-10-26T16:46:19.4810000Z</dcterms:modified>
</coreProperties>
</file>